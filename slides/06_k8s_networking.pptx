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5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37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3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3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3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4913805-E56B-4E60-B040-33D07D40365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52496B-A296-46BC-B4FF-36449E7E1C1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949A2B-4693-4B36-A842-5F5A2F77F2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D9CC1A-E701-42F8-AA6F-C8E850E486F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D5A140-D1D6-4154-86D4-3810BC94CF7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26771D-F574-4F18-A3E6-A61BFAB1D12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571C8A-A242-497B-BE65-529F6D1AD94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E53DC8C-2913-4197-8244-7023651282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356A32-21FF-4C89-ACD0-EACA8BF5EBE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4D7CE5-2719-452E-8EEF-B3F025F7A1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E85E7E-7120-40EE-B970-0AE8C3B5B9D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D1A1DD-1364-4376-94DC-E05778B9900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4AEA59-6E3E-4521-91DE-9493EDB04E2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jpe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37F312-F62C-4BAB-8652-E7596365F3D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532903A-754B-4E75-9DC1-B5475EB7100B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ftr" idx="5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ldNum" idx="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A65EFE-0E42-4506-88A2-4D6E52FD6D5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7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0CB1606-14CA-451D-B864-4CDBD271E54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9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1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ABB1346-1445-4C17-A01F-4999C7ABED2C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1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1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386A8D-632F-426A-AF11-5DCF817A9E8B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1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1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C75D6F8-0341-4E38-A2AA-AECB7483B50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ftr" idx="15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sldNum" idx="1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AE2BB1E-97D4-48BB-A890-F6FBFC34153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8"/>
          <p:cNvSpPr>
            <a:spLocks noGrp="1"/>
          </p:cNvSpPr>
          <p:nvPr>
            <p:ph type="ftr" idx="17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9"/>
          <p:cNvSpPr>
            <a:spLocks noGrp="1"/>
          </p:cNvSpPr>
          <p:nvPr>
            <p:ph type="sldNum" idx="1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F7143A8-9F1A-447E-B75D-3D3461DE2F0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19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2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FD759A4-AF5B-49B1-97EA-0983A921A2DC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21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72B164A-5210-4E2F-BF25-00EE18B9ACE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ftr" idx="23"/>
          </p:nvPr>
        </p:nvSpPr>
        <p:spPr>
          <a:xfrm>
            <a:off x="228600" y="6629400"/>
            <a:ext cx="3863520" cy="22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2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0674CC5-E5E8-4252-B00B-33D022DBC7D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2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CEB4C95-9B67-4711-91F6-2210CBD77521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ldNum" idx="2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7082C38-6951-4CB8-969E-5EF59F762DC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27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6D702D3-328A-444E-BBBE-871E6421EE9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sldNum" idx="2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255CD18-2DF5-44AC-A57B-57E6DAF0DEEE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29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B60B342-DC1B-44FE-B0B3-A9D828CE072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sldNum" idx="3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0800D78-8570-4335-875C-860DB91E92B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17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3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0176C5B-9CEF-4B2C-983C-17ED46AE2C1F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56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6"/>
          <p:cNvSpPr>
            <a:spLocks noGrp="1"/>
          </p:cNvSpPr>
          <p:nvPr>
            <p:ph type="sldNum" idx="3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754F39F-51E2-4500-9E36-2E2FB08B835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320" cy="189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8"/>
          <p:cNvSpPr>
            <a:spLocks noGrp="1"/>
          </p:cNvSpPr>
          <p:nvPr>
            <p:ph type="sldNum" idx="33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A92588C-9ED5-4AE3-A9F3-0809B133E59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sldNum" idx="3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ADC8F5F-555B-4106-8D38-F1B5D3AA33D8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C86DFB1-9174-44BC-BF0D-89C236668F7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9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228600" y="6629400"/>
            <a:ext cx="3863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3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82691B3-CE55-4709-A08D-960313D7764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70;p16"/>
          <p:cNvSpPr/>
          <p:nvPr/>
        </p:nvSpPr>
        <p:spPr>
          <a:xfrm>
            <a:off x="862560" y="478080"/>
            <a:ext cx="7875000" cy="101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980714"/>
                </a:solidFill>
                <a:effectLst/>
                <a:uFillTx/>
                <a:latin typeface="Calibri"/>
                <a:ea typeface="Calibri"/>
              </a:rPr>
              <a:t>K8s Networking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Module Outline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553500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Network Model Overview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Pod Network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Cluster Network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Services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Gateway API (Ingress)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Helvetica Neue Light"/>
              <a:buChar char="●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Network Policy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42E333E-1E30-4328-98F0-A67CDA43BA77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Overview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K8s Networking consists of multiple layers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Between containers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Between Pods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Between Nodes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Both lower level (Services) and higher level (Gateway)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Configurable and extensible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4F5CCBC-5435-41EB-9A5E-9C3356BC33A2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Pod Network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Within EACH Pod, all containers share a network interface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Containers can refer to “localhost” to communicate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Manged by software implementing the Container Runtime Interface (CRI) → the container engine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2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DE15F3D-7BDC-4489-9C4D-B876ABFC8B3B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Cluster Network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By default, all Pods get IP addresses from a defined range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Pods can directly communicate (no NAT)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Implemented by Container Network Interface (CNI) plugins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3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FEE362B-D20F-4E13-8AB3-7C10B1CF991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CNI Plugins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Component add-ons to k8s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Implementations of a specific API:</a:t>
            </a:r>
            <a:br>
              <a:rPr sz="3000"/>
            </a:b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https://github.com/containernetworking/cni/blob/spec-v1.0.0/SPEC.md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Many popular networking add-ons:</a:t>
            </a:r>
            <a:br>
              <a:rPr sz="3000"/>
            </a:b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https://kubernetes.io/docs/concepts/cluster-administration/addons/#networking-and-network-policy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4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53EB542-DFE2-4E26-9149-512E57A5E9F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Example Network Plugins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Flannel: https://github.com/flannel-io/flannel#deploying-flannel-manually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Calico: https://www.tigera.io/project-calico/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Cilium: https://github.com/cilium/cilium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Weave: https://github.com/rajch/weave#using-weave-on-kubernetes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45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454F540-14E8-4022-94F0-FF73E9C2D4A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Service Networking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Created Services automatically managed by K8s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Service Proxy implements routing to individual pods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Service Types: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ClusterIP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NodePort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LoadBalancer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ExternalName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6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3907FC1-3A77-44E7-9DB8-4AB02189ABC0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Gateway (previously Ingress)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K8s resources for handling ingress traffic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GatewayClass, Gateway, HTTPRoute, GRPCRoute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Replaces Ingress API (less flexible)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Mimics StorageClass / PV / PVC API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47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3E54AFB-86A2-4667-A7E7-F051C3DAB12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Gateway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48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4F2ED14-76D9-4EA9-BC65-3029644344E4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2"/>
          <a:stretch/>
        </p:blipFill>
        <p:spPr>
          <a:xfrm>
            <a:off x="935640" y="1596240"/>
            <a:ext cx="8466480" cy="372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HTTPRoute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49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D2DA41C-B788-441A-A7B7-A90CB9B2EE3A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2"/>
          <a:stretch/>
        </p:blipFill>
        <p:spPr>
          <a:xfrm>
            <a:off x="958320" y="1360080"/>
            <a:ext cx="6988320" cy="50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Network Policy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828000" y="1528200"/>
            <a:ext cx="10144080" cy="467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5000" anchor="t">
            <a:noAutofit/>
          </a:bodyPr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Defines policies that control how traffic between pods is handled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Must be implemented by CNI plugin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Default Policy: Pods have unrestricted egress, and unrestricted ingress from same namespace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19040">
              <a:lnSpc>
                <a:spcPct val="100000"/>
              </a:lnSpc>
              <a:spcBef>
                <a:spcPts val="1001"/>
              </a:spcBef>
              <a:buClr>
                <a:srgbClr val="888888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3000" strike="noStrike" u="none">
                <a:solidFill>
                  <a:srgbClr val="888888"/>
                </a:solidFill>
                <a:effectLst/>
                <a:uFillTx/>
                <a:latin typeface="Helvetica Neue Light"/>
                <a:ea typeface="Helvetica Neue Light"/>
              </a:rPr>
              <a:t>Tons of options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0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0DC7C52-BCD7-40F4-8A8C-CFF46CF995C9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952920" y="324000"/>
            <a:ext cx="11230560" cy="90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233445"/>
                </a:solidFill>
                <a:effectLst/>
                <a:uFillTx/>
                <a:latin typeface="Helvetica Neue Light"/>
                <a:ea typeface="Helvetica Neue Light"/>
              </a:rPr>
              <a:t>Network Policy Example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51"/>
          </p:nvPr>
        </p:nvSpPr>
        <p:spPr>
          <a:xfrm>
            <a:off x="11340000" y="6537240"/>
            <a:ext cx="832680" cy="29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0FE9045-77CA-4530-A98F-AD35B776B1D3}" type="slidenum"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elvetica Neue Light"/>
                <a:ea typeface="Helvetica Neue Light"/>
              </a:rPr>
              <a:t>&lt;number&gt;</a:t>
            </a:fld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2"/>
          <a:stretch/>
        </p:blipFill>
        <p:spPr>
          <a:xfrm>
            <a:off x="932760" y="1306080"/>
            <a:ext cx="5392440" cy="518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Copyright 2023 JR Rickerson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2025-11-06T00:46:33Z</dcterms:modified>
  <cp:revision>17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