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5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37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jpeg" ContentType="image/jpeg"/>
  <Override PartName="/ppt/media/image7.png" ContentType="image/png"/>
  <Override PartName="/ppt/media/image8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dt" idx="3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ftr" idx="3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sldNum" idx="3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D72A7E4-D629-434F-A123-83CEE71F871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2F0D7A-6C92-4768-911B-A2F06D56A06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6EA840-A4B8-4987-B2C4-8F90278372D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D663D1-F392-4FE6-A8B8-EB8ED5A5624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75DCB6-6BE6-4B00-A02C-5BF287CF064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1A0994-937F-4C96-B2A2-8C8FFD3DB5D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C4C26B-2DB6-4740-8B5A-D3BDAACCDD8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2A000B-80D5-4E3C-A68C-7979F3ECF34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1"/>
          </p:nvPr>
        </p:nvSpPr>
        <p:spPr>
          <a:xfrm>
            <a:off x="228600" y="6629400"/>
            <a:ext cx="3863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EFFFEBE-8CCB-4CEB-B600-24A2F57D20C2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3"/>
          </p:nvPr>
        </p:nvSpPr>
        <p:spPr>
          <a:xfrm>
            <a:off x="228600" y="6629400"/>
            <a:ext cx="3863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4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A27C03F-F56D-4A70-907C-C1C1E6FE4497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5"/>
          </p:nvPr>
        </p:nvSpPr>
        <p:spPr>
          <a:xfrm>
            <a:off x="228600" y="6629400"/>
            <a:ext cx="3863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6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848A432-19C2-4FAD-A4F0-303F8C60021E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ftr" idx="7"/>
          </p:nvPr>
        </p:nvSpPr>
        <p:spPr>
          <a:xfrm>
            <a:off x="228600" y="6629400"/>
            <a:ext cx="3863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7"/>
          <p:cNvSpPr>
            <a:spLocks noGrp="1"/>
          </p:cNvSpPr>
          <p:nvPr>
            <p:ph type="sldNum" idx="8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2C7855F-F9DA-4380-A6F7-DF0F365B550E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8"/>
          <p:cNvSpPr>
            <a:spLocks noGrp="1"/>
          </p:cNvSpPr>
          <p:nvPr>
            <p:ph type="ftr" idx="9"/>
          </p:nvPr>
        </p:nvSpPr>
        <p:spPr>
          <a:xfrm>
            <a:off x="228600" y="6629400"/>
            <a:ext cx="3863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9"/>
          <p:cNvSpPr>
            <a:spLocks noGrp="1"/>
          </p:cNvSpPr>
          <p:nvPr>
            <p:ph type="sldNum" idx="10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A54532B-BA5A-474F-9E7E-2306F1B5235E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ftr" idx="11"/>
          </p:nvPr>
        </p:nvSpPr>
        <p:spPr>
          <a:xfrm>
            <a:off x="228600" y="6629400"/>
            <a:ext cx="3863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12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BA13634-9721-4576-983C-2DCF06D41601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ftr" idx="13"/>
          </p:nvPr>
        </p:nvSpPr>
        <p:spPr>
          <a:xfrm>
            <a:off x="228600" y="6629400"/>
            <a:ext cx="3863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14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CC2D454-FE06-4D62-A944-5F730CCCA90D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ftr" idx="15"/>
          </p:nvPr>
        </p:nvSpPr>
        <p:spPr>
          <a:xfrm>
            <a:off x="228600" y="6629400"/>
            <a:ext cx="3863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16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9420128-1F22-4C05-A4CB-351CDB0B3D24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ftr" idx="17"/>
          </p:nvPr>
        </p:nvSpPr>
        <p:spPr>
          <a:xfrm>
            <a:off x="228600" y="6629400"/>
            <a:ext cx="3863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sldNum" idx="18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7003229-C70C-47E4-BFB9-C8401D984988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ftr" idx="19"/>
          </p:nvPr>
        </p:nvSpPr>
        <p:spPr>
          <a:xfrm>
            <a:off x="228600" y="6629400"/>
            <a:ext cx="3863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20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28CF1BD-903A-4E50-A733-519DD5B77B3E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1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ftr" idx="21"/>
          </p:nvPr>
        </p:nvSpPr>
        <p:spPr>
          <a:xfrm>
            <a:off x="228600" y="6629400"/>
            <a:ext cx="3863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ldNum" idx="22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415506B-B901-4082-96BC-2FB32411E5D0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ftr" idx="23"/>
          </p:nvPr>
        </p:nvSpPr>
        <p:spPr>
          <a:xfrm>
            <a:off x="228600" y="6629400"/>
            <a:ext cx="3863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6"/>
          <p:cNvSpPr>
            <a:spLocks noGrp="1"/>
          </p:cNvSpPr>
          <p:nvPr>
            <p:ph type="sldNum" idx="24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17AE097-2530-46DE-AE91-B07F7C9239FB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228600" y="6629400"/>
            <a:ext cx="3863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25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18E08B3-7E9F-46EB-899B-49C599AC34A4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228600" y="6629400"/>
            <a:ext cx="3863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26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C3346A6-C38B-465C-B1BE-85C892FC2F30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228600" y="6629400"/>
            <a:ext cx="3863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27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FE2A31E-9A48-44D8-9D2B-D76E37C330F0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>
            <a:off x="228600" y="6629400"/>
            <a:ext cx="3863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 type="sldNum" idx="28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2903984-6B70-4930-A800-1BE679E155DC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228600" y="6629400"/>
            <a:ext cx="3863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8"/>
          <p:cNvSpPr>
            <a:spLocks noGrp="1"/>
          </p:cNvSpPr>
          <p:nvPr>
            <p:ph type="sldNum" idx="29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4D9F02B-5917-49BC-B90C-4288047C4950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228600" y="6629400"/>
            <a:ext cx="3863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sldNum" idx="30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9AAEA0D-5099-4F0F-9966-237AEC9CD6AD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>
            <a:off x="228600" y="6629400"/>
            <a:ext cx="3863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31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517EA6D-8384-4D51-8847-5AA6B49E9EFC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9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>
            <a:off x="228600" y="6629400"/>
            <a:ext cx="3863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2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3B45289-063B-4958-B9F5-9F1AF1F13AA9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>
            <a:off x="228600" y="6629400"/>
            <a:ext cx="3863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sldNum" idx="33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5121D9C-FDEE-45AE-A77C-0288BDCF8AE0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228600" y="6629400"/>
            <a:ext cx="3863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ldNum" idx="34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09CAAA0-2C95-45FE-99E9-A45659E02B32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2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>
            <a:off x="228600" y="6629400"/>
            <a:ext cx="3863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sldNum" idx="35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144F7CB-50F4-443B-B695-02A66A22E8E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228600" y="6629400"/>
            <a:ext cx="38638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sldNum" idx="36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AB77F5B-D746-46DA-B253-CDD0C476DFC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8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70;p16"/>
          <p:cNvSpPr/>
          <p:nvPr/>
        </p:nvSpPr>
        <p:spPr>
          <a:xfrm>
            <a:off x="862560" y="478080"/>
            <a:ext cx="7875360" cy="10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6000" strike="noStrike" u="none">
                <a:solidFill>
                  <a:srgbClr val="980714"/>
                </a:solidFill>
                <a:effectLst/>
                <a:uFillTx/>
                <a:latin typeface="Calibri"/>
                <a:ea typeface="Calibri"/>
              </a:rPr>
              <a:t>Containers Review</a:t>
            </a:r>
            <a:endParaRPr b="0" lang="en-US" sz="6000" strike="noStrike" u="none">
              <a:solidFill>
                <a:srgbClr val="980714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920" cy="90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Module Outline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5535360" cy="467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 Basics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 Images</a:t>
            </a:r>
            <a:br>
              <a:rPr sz="3000"/>
            </a:b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 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 Persistence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0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4D4AE80-BC16-4FFF-8D97-67B17E620429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6278760" y="1544400"/>
            <a:ext cx="5836680" cy="467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 Networking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Demo: Running a standalone container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920" cy="90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Container Basics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5535360" cy="467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Container: Better described as a “Containerized Process”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Built on existing Linux kernel features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No virtual hardware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No independent kernel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41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4D01F02-DDF6-4E4E-9F12-04E08AFB106D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7315200" y="1828800"/>
            <a:ext cx="4343040" cy="4114440"/>
          </a:xfrm>
          <a:custGeom>
            <a:avLst/>
            <a:gdLst>
              <a:gd name="textAreaLeft" fmla="*/ 0 w 4343040"/>
              <a:gd name="textAreaRight" fmla="*/ 4343400 w 4343040"/>
              <a:gd name="textAreaTop" fmla="*/ 0 h 4114440"/>
              <a:gd name="textAreaBottom" fmla="*/ 4114800 h 4114440"/>
            </a:gdLst>
            <a:ahLst/>
            <a:cxnLst/>
            <a:rect l="textAreaLeft" t="textAreaTop" r="textAreaRight" b="textAreaBottom"/>
            <a:pathLst>
              <a:path w="2280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19200" y="21600"/>
                </a:lnTo>
                <a:arcTo wR="2400" hR="3600" stAng="5400000" swAng="-5400000"/>
                <a:lnTo>
                  <a:pt x="21600" y="3600"/>
                </a:lnTo>
                <a:arcTo wR="24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rocess"/>
          <p:cNvSpPr/>
          <p:nvPr/>
        </p:nvSpPr>
        <p:spPr>
          <a:xfrm>
            <a:off x="7543800" y="2514600"/>
            <a:ext cx="3885840" cy="3200040"/>
          </a:xfrm>
          <a:custGeom>
            <a:avLst/>
            <a:gdLst>
              <a:gd name="textAreaLeft" fmla="*/ 0 w 3885840"/>
              <a:gd name="textAreaRight" fmla="*/ 3886200 w 3885840"/>
              <a:gd name="textAreaTop" fmla="*/ 0 h 3200040"/>
              <a:gd name="textAreaBottom" fmla="*/ 3200400 h 3200040"/>
            </a:gdLst>
            <a:ahLst/>
            <a:cxnLst/>
            <a:rect l="textAreaLeft" t="textAreaTop" r="textAreaRight" b="textAreaBottom"/>
            <a:pathLst>
              <a:path w="26228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2628" y="21600"/>
                </a:lnTo>
                <a:arcTo wR="1028" hR="3600" stAng="5400000" swAng="5400000"/>
                <a:lnTo>
                  <a:pt x="21600" y="3600"/>
                </a:lnTo>
                <a:arcTo wR="1028" hR="3600" stAng="10800000" swAng="5400000"/>
                <a:close/>
              </a:path>
            </a:pathLst>
          </a:custGeom>
          <a:solidFill>
            <a:srgbClr val="ffdbb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8001000" y="2971800"/>
            <a:ext cx="2971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Process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8001000" y="2057400"/>
            <a:ext cx="2971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Container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920" cy="90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Container Basics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440" cy="467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 Runtime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runc (also crun, railcar)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 Engine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Docker, containerd, CRI-O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 Tools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Docker CLI, nerdctl, podman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42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1A290B0-FC1A-4C56-AE1A-FA3CFFE24C33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920" cy="90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Container Images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3057840" cy="52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 Image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43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CFA13D6-254F-4F15-A9A1-71BF37EDCA59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24"/>
          <p:cNvSpPr/>
          <p:nvPr/>
        </p:nvSpPr>
        <p:spPr>
          <a:xfrm>
            <a:off x="828360" y="1528200"/>
            <a:ext cx="305784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5000" anchor="t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 Image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5"/>
          <p:cNvSpPr/>
          <p:nvPr/>
        </p:nvSpPr>
        <p:spPr>
          <a:xfrm>
            <a:off x="4800600" y="1528200"/>
            <a:ext cx="68544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5000" anchor="t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vs.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26"/>
          <p:cNvSpPr/>
          <p:nvPr/>
        </p:nvSpPr>
        <p:spPr>
          <a:xfrm>
            <a:off x="6858000" y="1528200"/>
            <a:ext cx="305784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5000" anchor="t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914760" y="2743560"/>
            <a:ext cx="2971440" cy="3428640"/>
          </a:xfrm>
          <a:prstGeom prst="foldedCorner">
            <a:avLst>
              <a:gd name="adj" fmla="val 125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1143000" y="2971800"/>
            <a:ext cx="25142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/bin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/lib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/lib/mypackage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/var/html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1143000" y="4572000"/>
            <a:ext cx="25142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Container Manifest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6352200" y="2286000"/>
            <a:ext cx="4343040" cy="4114440"/>
          </a:xfrm>
          <a:custGeom>
            <a:avLst/>
            <a:gdLst>
              <a:gd name="textAreaLeft" fmla="*/ 0 w 4343040"/>
              <a:gd name="textAreaRight" fmla="*/ 4343400 w 4343040"/>
              <a:gd name="textAreaTop" fmla="*/ 0 h 4114440"/>
              <a:gd name="textAreaBottom" fmla="*/ 4114800 h 4114440"/>
            </a:gdLst>
            <a:ahLst/>
            <a:cxnLst/>
            <a:rect l="textAreaLeft" t="textAreaTop" r="textAreaRight" b="textAreaBottom"/>
            <a:pathLst>
              <a:path w="2280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19200" y="21600"/>
                </a:lnTo>
                <a:arcTo wR="2400" hR="3600" stAng="5400000" swAng="-5400000"/>
                <a:lnTo>
                  <a:pt x="21600" y="3600"/>
                </a:lnTo>
                <a:arcTo wR="24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rocess 1"/>
          <p:cNvSpPr/>
          <p:nvPr/>
        </p:nvSpPr>
        <p:spPr>
          <a:xfrm>
            <a:off x="6544800" y="2971800"/>
            <a:ext cx="3885840" cy="3200040"/>
          </a:xfrm>
          <a:custGeom>
            <a:avLst/>
            <a:gdLst>
              <a:gd name="textAreaLeft" fmla="*/ 0 w 3885840"/>
              <a:gd name="textAreaRight" fmla="*/ 3886200 w 3885840"/>
              <a:gd name="textAreaTop" fmla="*/ 0 h 3200040"/>
              <a:gd name="textAreaBottom" fmla="*/ 3200400 h 3200040"/>
            </a:gdLst>
            <a:ahLst/>
            <a:cxnLst/>
            <a:rect l="textAreaLeft" t="textAreaTop" r="textAreaRight" b="textAreaBottom"/>
            <a:pathLst>
              <a:path w="26228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22628" y="21600"/>
                </a:lnTo>
                <a:arcTo wR="1028" hR="3600" stAng="5400000" swAng="5400000"/>
                <a:lnTo>
                  <a:pt x="21600" y="3600"/>
                </a:lnTo>
                <a:arcTo wR="1028" hR="3600" stAng="10800000" swAng="5400000"/>
                <a:close/>
              </a:path>
            </a:pathLst>
          </a:custGeom>
          <a:solidFill>
            <a:srgbClr val="ffdbb6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7002000" y="3429000"/>
            <a:ext cx="2971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Process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7002000" y="2514600"/>
            <a:ext cx="2971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Container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920" cy="90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Container Images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ldNum" idx="44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DD0F1FB-8295-4833-AA87-1E1E5B20F5CF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4" name="" descr=""/>
          <p:cNvPicPr/>
          <p:nvPr/>
        </p:nvPicPr>
        <p:blipFill>
          <a:blip r:embed="rId2"/>
          <a:stretch/>
        </p:blipFill>
        <p:spPr>
          <a:xfrm>
            <a:off x="126000" y="1371600"/>
            <a:ext cx="4445640" cy="233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" descr=""/>
          <p:cNvPicPr/>
          <p:nvPr/>
        </p:nvPicPr>
        <p:blipFill>
          <a:blip r:embed="rId3"/>
          <a:stretch/>
        </p:blipFill>
        <p:spPr>
          <a:xfrm>
            <a:off x="228600" y="4283280"/>
            <a:ext cx="3656880" cy="120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" descr=""/>
          <p:cNvPicPr/>
          <p:nvPr/>
        </p:nvPicPr>
        <p:blipFill>
          <a:blip r:embed="rId4"/>
          <a:stretch/>
        </p:blipFill>
        <p:spPr>
          <a:xfrm>
            <a:off x="5257800" y="2015640"/>
            <a:ext cx="6400440" cy="392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920" cy="90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Container Persistence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179280" y="1371600"/>
            <a:ext cx="5535360" cy="91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Ephemeral Storage – disappears with the container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45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50B83C8-E886-478B-9BDB-36EEC1C95164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35"/>
          <p:cNvSpPr/>
          <p:nvPr/>
        </p:nvSpPr>
        <p:spPr>
          <a:xfrm>
            <a:off x="6172200" y="1371600"/>
            <a:ext cx="5535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5000" anchor="t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Volume Storage – </a:t>
            </a:r>
            <a:br>
              <a:rPr sz="3000"/>
            </a:b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stored external to container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228600" y="2743200"/>
            <a:ext cx="3428640" cy="3428640"/>
          </a:xfrm>
          <a:custGeom>
            <a:avLst/>
            <a:gdLst>
              <a:gd name="textAreaLeft" fmla="*/ 0 w 3428640"/>
              <a:gd name="textAreaRight" fmla="*/ 3429000 w 3428640"/>
              <a:gd name="textAreaTop" fmla="*/ 0 h 3428640"/>
              <a:gd name="textAreaBottom" fmla="*/ 3429000 h 34286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18000" y="21600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157400" y="4800600"/>
            <a:ext cx="1599840" cy="1142640"/>
          </a:xfrm>
          <a:prstGeom prst="can">
            <a:avLst>
              <a:gd name="adj" fmla="val 25000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914400" y="2971800"/>
            <a:ext cx="9140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/data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4" name=""/>
          <p:cNvCxnSpPr>
            <a:stCxn id="213" idx="2"/>
            <a:endCxn id="212" idx="1"/>
          </p:cNvCxnSpPr>
          <p:nvPr/>
        </p:nvCxnSpPr>
        <p:spPr>
          <a:xfrm>
            <a:off x="1371240" y="3317760"/>
            <a:ext cx="586440" cy="1483200"/>
          </a:xfrm>
          <a:prstGeom prst="straightConnector1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sp>
        <p:nvSpPr>
          <p:cNvPr id="215" name=""/>
          <p:cNvSpPr/>
          <p:nvPr/>
        </p:nvSpPr>
        <p:spPr>
          <a:xfrm>
            <a:off x="6400800" y="2743200"/>
            <a:ext cx="3200040" cy="3428640"/>
          </a:xfrm>
          <a:custGeom>
            <a:avLst/>
            <a:gdLst>
              <a:gd name="textAreaLeft" fmla="*/ 0 w 3200040"/>
              <a:gd name="textAreaRight" fmla="*/ 3200400 w 3200040"/>
              <a:gd name="textAreaTop" fmla="*/ 0 h 3428640"/>
              <a:gd name="textAreaBottom" fmla="*/ 3429000 h 3428640"/>
            </a:gdLst>
            <a:ahLst/>
            <a:cxnLst/>
            <a:rect l="textAreaLeft" t="textAreaTop" r="textAreaRight" b="textAreaBottom"/>
            <a:pathLst>
              <a:path w="21600" h="23143">
                <a:moveTo>
                  <a:pt x="3600" y="0"/>
                </a:moveTo>
                <a:arcTo wR="3600" hR="3600" stAng="16200000" swAng="-5400000"/>
                <a:lnTo>
                  <a:pt x="0" y="19543"/>
                </a:lnTo>
                <a:arcTo wR="3600" hR="2057" stAng="10800000" swAng="-5400000"/>
                <a:lnTo>
                  <a:pt x="18000" y="21600"/>
                </a:lnTo>
                <a:arcTo wR="3600" hR="2057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6858000" y="3200400"/>
            <a:ext cx="114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/mnt/data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10058400" y="4343400"/>
            <a:ext cx="1371240" cy="1371240"/>
          </a:xfrm>
          <a:prstGeom prst="can">
            <a:avLst>
              <a:gd name="adj" fmla="val 25000"/>
            </a:avLst>
          </a:prstGeom>
          <a:solidFill>
            <a:srgbClr val="069a2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8" name=""/>
          <p:cNvCxnSpPr>
            <a:stCxn id="216" idx="2"/>
            <a:endCxn id="217" idx="2"/>
          </p:cNvCxnSpPr>
          <p:nvPr/>
        </p:nvCxnSpPr>
        <p:spPr>
          <a:xfrm>
            <a:off x="7429320" y="3546360"/>
            <a:ext cx="2629440" cy="1483200"/>
          </a:xfrm>
          <a:prstGeom prst="straightConnector1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920" cy="90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Container Networking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179280" y="1371600"/>
            <a:ext cx="5763960" cy="91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Containerized Processes use Software-Defined Networks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Still just kernel capabilities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Still no virtualized hardware!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Bridged subnets, host networks, or no network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46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9785496-6C5F-4365-A2EA-7AEE6E55D96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9144000" y="1600200"/>
            <a:ext cx="2285640" cy="1599840"/>
          </a:xfrm>
          <a:prstGeom prst="rect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9853200" y="1972800"/>
            <a:ext cx="1371240" cy="456840"/>
          </a:xfrm>
          <a:custGeom>
            <a:avLst/>
            <a:gdLst>
              <a:gd name="textAreaLeft" fmla="*/ 0 w 1371240"/>
              <a:gd name="textAreaRight" fmla="*/ 1371600 w 1371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64766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61166" y="21600"/>
                </a:lnTo>
                <a:arcTo wR="39566" hR="3600" stAng="5400000" swAng="5400000"/>
                <a:lnTo>
                  <a:pt x="21600" y="3600"/>
                </a:lnTo>
                <a:arcTo wR="39566" hR="3600" stAng="10800000" swAng="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9853200" y="2586600"/>
            <a:ext cx="1371240" cy="456840"/>
          </a:xfrm>
          <a:custGeom>
            <a:avLst/>
            <a:gdLst>
              <a:gd name="textAreaLeft" fmla="*/ 0 w 1371240"/>
              <a:gd name="textAreaRight" fmla="*/ 1371600 w 1371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64766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61166" y="21600"/>
                </a:lnTo>
                <a:arcTo wR="39566" hR="3600" stAng="5400000" swAng="5400000"/>
                <a:lnTo>
                  <a:pt x="21600" y="3600"/>
                </a:lnTo>
                <a:arcTo wR="39566" hR="3600" stAng="10800000" swAng="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9601200" y="1600200"/>
            <a:ext cx="13712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Subnet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8458200" y="2286000"/>
            <a:ext cx="914040" cy="456840"/>
          </a:xfrm>
          <a:prstGeom prst="rect">
            <a:avLst/>
          </a:prstGeom>
          <a:solidFill>
            <a:srgbClr val="ffd428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Bridge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6690600" y="1949400"/>
            <a:ext cx="1142640" cy="1142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 Network Adapter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9961200" y="2021400"/>
            <a:ext cx="1207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container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9961200" y="2625480"/>
            <a:ext cx="11995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container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0" name=""/>
          <p:cNvCxnSpPr>
            <a:stCxn id="223" idx="1"/>
            <a:endCxn id="226" idx="3"/>
          </p:cNvCxnSpPr>
          <p:nvPr/>
        </p:nvCxnSpPr>
        <p:spPr>
          <a:xfrm flipH="1">
            <a:off x="9372240" y="2201040"/>
            <a:ext cx="481320" cy="313560"/>
          </a:xfrm>
          <a:prstGeom prst="straightConnector1">
            <a:avLst/>
          </a:prstGeom>
          <a:ln w="0">
            <a:solidFill>
              <a:srgbClr val="3465a4"/>
            </a:solidFill>
            <a:headEnd len="med" type="triangle" w="med"/>
            <a:tailEnd len="med" type="triangle" w="med"/>
          </a:ln>
        </p:spPr>
      </p:cxnSp>
      <p:cxnSp>
        <p:nvCxnSpPr>
          <p:cNvPr id="231" name=""/>
          <p:cNvCxnSpPr>
            <a:stCxn id="224" idx="1"/>
            <a:endCxn id="226" idx="3"/>
          </p:cNvCxnSpPr>
          <p:nvPr/>
        </p:nvCxnSpPr>
        <p:spPr>
          <a:xfrm flipH="1" flipV="1">
            <a:off x="9372240" y="2514240"/>
            <a:ext cx="481320" cy="300960"/>
          </a:xfrm>
          <a:prstGeom prst="straightConnector1">
            <a:avLst/>
          </a:prstGeom>
          <a:ln w="0">
            <a:solidFill>
              <a:srgbClr val="3465a4"/>
            </a:solidFill>
            <a:headEnd len="med" type="triangle" w="med"/>
            <a:tailEnd len="med" type="triangle" w="med"/>
          </a:ln>
        </p:spPr>
      </p:cxnSp>
      <p:cxnSp>
        <p:nvCxnSpPr>
          <p:cNvPr id="232" name=""/>
          <p:cNvCxnSpPr>
            <a:stCxn id="226" idx="1"/>
            <a:endCxn id="227" idx="3"/>
          </p:cNvCxnSpPr>
          <p:nvPr/>
        </p:nvCxnSpPr>
        <p:spPr>
          <a:xfrm flipH="1">
            <a:off x="7833240" y="2514240"/>
            <a:ext cx="625320" cy="6840"/>
          </a:xfrm>
          <a:prstGeom prst="straightConnector1">
            <a:avLst/>
          </a:prstGeom>
          <a:ln w="0">
            <a:solidFill>
              <a:srgbClr val="3465a4"/>
            </a:solidFill>
            <a:headEnd len="med" type="triangle" w="med"/>
            <a:tailEnd len="med" type="triangle" w="med"/>
          </a:ln>
        </p:spPr>
      </p:cxnSp>
      <p:sp>
        <p:nvSpPr>
          <p:cNvPr id="233" name=""/>
          <p:cNvSpPr/>
          <p:nvPr/>
        </p:nvSpPr>
        <p:spPr>
          <a:xfrm>
            <a:off x="6665400" y="4343400"/>
            <a:ext cx="1142640" cy="1142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Host Network Adapter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9842400" y="4330800"/>
            <a:ext cx="1387440" cy="456840"/>
          </a:xfrm>
          <a:custGeom>
            <a:avLst/>
            <a:gdLst>
              <a:gd name="textAreaLeft" fmla="*/ 0 w 1387440"/>
              <a:gd name="textAreaRight" fmla="*/ 1387800 w 13874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64766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61166" y="21600"/>
                </a:lnTo>
                <a:arcTo wR="39566" hR="3600" stAng="5400000" swAng="5400000"/>
                <a:lnTo>
                  <a:pt x="21600" y="3600"/>
                </a:lnTo>
                <a:arcTo wR="39566" hR="3600" stAng="10800000" swAng="5400000"/>
                <a:close/>
              </a:path>
            </a:pathLst>
          </a:custGeom>
          <a:solidFill>
            <a:srgbClr val="729fcf"/>
          </a:solidFill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9950400" y="4379400"/>
            <a:ext cx="12794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container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9842400" y="4944600"/>
            <a:ext cx="1379880" cy="456840"/>
          </a:xfrm>
          <a:custGeom>
            <a:avLst/>
            <a:gdLst>
              <a:gd name="textAreaLeft" fmla="*/ 0 w 1379880"/>
              <a:gd name="textAreaRight" fmla="*/ 1380240 w 137988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64766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61166" y="21600"/>
                </a:lnTo>
                <a:arcTo wR="39566" hR="3600" stAng="5400000" swAng="5400000"/>
                <a:lnTo>
                  <a:pt x="21600" y="3600"/>
                </a:lnTo>
                <a:arcTo wR="39566" hR="3600" stAng="10800000" swAng="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9950400" y="4983480"/>
            <a:ext cx="1217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container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8" name=""/>
          <p:cNvCxnSpPr>
            <a:stCxn id="234" idx="1"/>
            <a:endCxn id="233" idx="3"/>
          </p:cNvCxnSpPr>
          <p:nvPr/>
        </p:nvCxnSpPr>
        <p:spPr>
          <a:xfrm flipH="1">
            <a:off x="7808040" y="4559040"/>
            <a:ext cx="2034720" cy="356040"/>
          </a:xfrm>
          <a:prstGeom prst="straightConnector1">
            <a:avLst/>
          </a:prstGeom>
          <a:ln w="0">
            <a:solidFill>
              <a:srgbClr val="3465a4"/>
            </a:solidFill>
            <a:headEnd len="med" type="triangle" w="med"/>
            <a:tailEnd len="med" type="triangle" w="med"/>
          </a:ln>
        </p:spPr>
      </p:cxnSp>
      <p:cxnSp>
        <p:nvCxnSpPr>
          <p:cNvPr id="239" name=""/>
          <p:cNvCxnSpPr>
            <a:stCxn id="236" idx="1"/>
            <a:endCxn id="233" idx="3"/>
          </p:cNvCxnSpPr>
          <p:nvPr/>
        </p:nvCxnSpPr>
        <p:spPr>
          <a:xfrm flipH="1" flipV="1">
            <a:off x="7808040" y="4914720"/>
            <a:ext cx="2034720" cy="258480"/>
          </a:xfrm>
          <a:prstGeom prst="straightConnector1">
            <a:avLst/>
          </a:prstGeom>
          <a:ln w="0">
            <a:solidFill>
              <a:srgbClr val="3465a4"/>
            </a:solidFill>
            <a:headEnd len="med" type="triangle" w="med"/>
            <a:tailEnd len="med" type="triangle" w="med"/>
          </a:ln>
        </p:spPr>
      </p:cxn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Num" idx="47"/>
          </p:nvPr>
        </p:nvSpPr>
        <p:spPr>
          <a:xfrm>
            <a:off x="11340000" y="6537240"/>
            <a:ext cx="833040" cy="29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E2FF59D-3BED-4EF5-9A5C-C8458783370E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Google Shape;676;p35"/>
          <p:cNvSpPr/>
          <p:nvPr/>
        </p:nvSpPr>
        <p:spPr>
          <a:xfrm>
            <a:off x="952560" y="324000"/>
            <a:ext cx="11230920" cy="90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Demo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679;p35"/>
          <p:cNvSpPr/>
          <p:nvPr/>
        </p:nvSpPr>
        <p:spPr>
          <a:xfrm>
            <a:off x="0" y="1512000"/>
            <a:ext cx="12191040" cy="30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5000" anchor="ctr">
            <a:noAutofit/>
          </a:bodyPr>
          <a:p>
            <a:pPr marL="457200" algn="ctr">
              <a:lnSpc>
                <a:spcPct val="90000"/>
              </a:lnSpc>
              <a:tabLst>
                <a:tab algn="l" pos="0"/>
              </a:tabLst>
            </a:pPr>
            <a:r>
              <a:rPr b="1" lang="en-US" sz="5500" strike="noStrike" u="none">
                <a:solidFill>
                  <a:srgbClr val="980714"/>
                </a:solidFill>
                <a:effectLst/>
                <a:uFillTx/>
                <a:latin typeface="Calibri"/>
                <a:ea typeface="Calibri"/>
              </a:rPr>
              <a:t>Standalone Containers</a:t>
            </a:r>
            <a:endParaRPr b="0" lang="en-US" sz="5500" strike="noStrike" u="none">
              <a:solidFill>
                <a:srgbClr val="980714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952560" y="324000"/>
            <a:ext cx="11239560" cy="946080"/>
          </a:xfrm>
          <a:prstGeom prst="rect">
            <a:avLst/>
          </a:prstGeom>
          <a:blipFill rotWithShape="0">
            <a:blip r:embed="rId2">
              <a:alphaModFix amt="0"/>
            </a:blip>
            <a:srcRect/>
            <a:tile tx="0" ty="0" sx="100000" sy="100000" algn="ctr"/>
          </a:blipFill>
          <a:ln w="367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2025-10-27T16:40:37Z</dcterms:modified>
  <cp:revision>16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