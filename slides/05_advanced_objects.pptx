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5.xml.rels" ContentType="application/vnd.openxmlformats-package.relationships+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37.xml" ContentType="application/vnd.openxmlformats-officedocument.theme+xml"/>
  <Override PartName="/ppt/slideLayouts/slideLayout22.xml" ContentType="application/vnd.openxmlformats-officedocument.presentationml.slideLayout+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png" ContentType="image/png"/>
  <Override PartName="/ppt/media/image3.jpeg" ContentType="image/jpe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4.xml" ContentType="application/vnd.openxmlformats-officedocument.presentationml.notes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Master" Target="slideMasters/slideMaster2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5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5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59" name="PlaceHolder 4"/>
          <p:cNvSpPr>
            <a:spLocks noGrp="1"/>
          </p:cNvSpPr>
          <p:nvPr>
            <p:ph type="dt" idx="3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60" name="PlaceHolder 5"/>
          <p:cNvSpPr>
            <a:spLocks noGrp="1"/>
          </p:cNvSpPr>
          <p:nvPr>
            <p:ph type="ftr" idx="38"/>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1" name="PlaceHolder 6"/>
          <p:cNvSpPr>
            <a:spLocks noGrp="1"/>
          </p:cNvSpPr>
          <p:nvPr>
            <p:ph type="sldNum" idx="3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5FA0CB76-F2E1-4FB2-BBE5-1D0A9DB5F74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hyperlink" Target="https://kubernetes.io/docs/concepts/configuration/manage-compute-resources-container/" TargetMode="External"/><Relationship Id="rId2" Type="http://schemas.openxmlformats.org/officeDocument/2006/relationships/slide" Target="../slides/slide2.xml"/><Relationship Id="rId3"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hyperlink" Target="https://kubernetes.io/docs/concepts/services-networking/ingress/" TargetMode="External"/><Relationship Id="rId2" Type="http://schemas.openxmlformats.org/officeDocument/2006/relationships/slide" Target="../slides/slide5.xml"/><Relationship Id="rId3"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hyperlink" Target="https://kubernetes.io/docs/concepts/services-networking/service/" TargetMode="External"/><Relationship Id="rId2" Type="http://schemas.openxmlformats.org/officeDocument/2006/relationships/hyperlink" Target="https://kubernetes.io/docs/concepts/services-networking/ingress-controllers/" TargetMode="External"/><Relationship Id="rId3" Type="http://schemas.openxmlformats.org/officeDocument/2006/relationships/slide" Target="../slides/slide6.xml"/><Relationship Id="rId4"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hyperlink" Target="https://kubernetes.io/docs/concepts/workloads/controllers/daemonset/" TargetMode="External"/><Relationship Id="rId2" Type="http://schemas.openxmlformats.org/officeDocument/2006/relationships/slide" Target="../slides/slide8.xml"/><Relationship Id="rId3"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hyperlink" Target="https://kubernetes.io/docs/concepts/workloads/controllers/statefulset/" TargetMode="External"/><Relationship Id="rId2" Type="http://schemas.openxmlformats.org/officeDocument/2006/relationships/slide" Target="../slides/slide10.xml"/><Relationship Id="rId3"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hyperlink" Target="https://kubernetes.io/docs/concepts/workloads/controllers/jobs-run-to-completion/" TargetMode="External"/><Relationship Id="rId2" Type="http://schemas.openxmlformats.org/officeDocument/2006/relationships/slide" Target="../slides/slide12.xml"/><Relationship Id="rId3"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hyperlink" Target="https://kubernetes.io/docs/concepts/workloads/controllers/cron-jobs/" TargetMode="External"/><Relationship Id="rId2" Type="http://schemas.openxmlformats.org/officeDocument/2006/relationships/slide" Target="../slides/slide18.xml"/><Relationship Id="rId3"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hyperlink" Target="https://en.wikipedia.org/wiki/Cron" TargetMode="External"/><Relationship Id="rId2" Type="http://schemas.openxmlformats.org/officeDocument/2006/relationships/slide" Target="../slides/slide19.xml"/><Relationship Id="rId3"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hyperlink" Target="https://kubernetes.io/docs/concepts/configuration/manage-compute-resources-container/" TargetMode="External"/><Relationship Id="rId2" Type="http://schemas.openxmlformats.org/officeDocument/2006/relationships/slide" Target="../slides/slide20.xml"/><Relationship Id="rId3"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5320" cy="3085200"/>
          </a:xfrm>
          <a:prstGeom prst="rect">
            <a:avLst/>
          </a:prstGeom>
          <a:ln w="0">
            <a:noFill/>
          </a:ln>
        </p:spPr>
      </p:sp>
      <p:sp>
        <p:nvSpPr>
          <p:cNvPr id="409"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https://kubernetes.io/docs/concepts/configuration/manage-compute-resources-container/</a:t>
            </a:r>
            <a:endParaRPr b="0" lang="en-US" sz="1100" strike="noStrike" u="none">
              <a:solidFill>
                <a:srgbClr val="000000"/>
              </a:solidFill>
              <a:effectLst/>
              <a:uFillTx/>
              <a:latin typeface="Arial"/>
            </a:endParaRPr>
          </a:p>
        </p:txBody>
      </p:sp>
      <p:sp>
        <p:nvSpPr>
          <p:cNvPr id="410" name="PlaceHolder 3"/>
          <p:cNvSpPr>
            <a:spLocks noGrp="1"/>
          </p:cNvSpPr>
          <p:nvPr>
            <p:ph type="sldNum" idx="62"/>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323CABA-1989-43F8-BC4F-9DA386BD5C8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5320" cy="3085200"/>
          </a:xfrm>
          <a:prstGeom prst="rect">
            <a:avLst/>
          </a:prstGeom>
          <a:ln w="0">
            <a:noFill/>
          </a:ln>
        </p:spPr>
      </p:sp>
      <p:sp>
        <p:nvSpPr>
          <p:cNvPr id="412"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We can limit the amount of RAM and CPU time used by our containers with Resource limits. CPU time = # of millicore * 100ms/millicore so 500m (0.5cpu) means 50ms of cpu time every 100 ms. It cannot exceed it's CPU limit. If a Container exceeds its memory limit, it might be terminated.</a:t>
            </a:r>
            <a:endParaRPr b="0" lang="en-US" sz="1200" strike="noStrike" u="none">
              <a:solidFill>
                <a:srgbClr val="000000"/>
              </a:solidFill>
              <a:effectLst/>
              <a:uFillTx/>
              <a:latin typeface="Arial"/>
            </a:endParaRPr>
          </a:p>
        </p:txBody>
      </p:sp>
      <p:sp>
        <p:nvSpPr>
          <p:cNvPr id="413" name="PlaceHolder 3"/>
          <p:cNvSpPr>
            <a:spLocks noGrp="1"/>
          </p:cNvSpPr>
          <p:nvPr>
            <p:ph type="sldNum" idx="63"/>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63060A0-7936-4E38-853A-8043931D4CF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5320" cy="3085200"/>
          </a:xfrm>
          <a:prstGeom prst="rect">
            <a:avLst/>
          </a:prstGeom>
          <a:ln w="0">
            <a:noFill/>
          </a:ln>
        </p:spPr>
      </p:sp>
      <p:sp>
        <p:nvSpPr>
          <p:cNvPr id="415"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We can also tell kubernetes that we always want a certain amount of resources available for our pod to use, even if it's not currently using them. This is important when a Pod is scheduled to a node.</a:t>
            </a:r>
            <a:endParaRPr b="0" lang="en-US" sz="1200" strike="noStrike" u="none">
              <a:solidFill>
                <a:srgbClr val="000000"/>
              </a:solidFill>
              <a:effectLst/>
              <a:uFillTx/>
              <a:latin typeface="Arial"/>
            </a:endParaRPr>
          </a:p>
        </p:txBody>
      </p:sp>
      <p:sp>
        <p:nvSpPr>
          <p:cNvPr id="416" name="PlaceHolder 3"/>
          <p:cNvSpPr>
            <a:spLocks noGrp="1"/>
          </p:cNvSpPr>
          <p:nvPr>
            <p:ph type="sldNum" idx="64"/>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AE4E085-FCB0-49B2-8114-B2E3E4425DA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5320" cy="3085200"/>
          </a:xfrm>
          <a:prstGeom prst="rect">
            <a:avLst/>
          </a:prstGeom>
          <a:ln w="0">
            <a:noFill/>
          </a:ln>
        </p:spPr>
      </p:sp>
      <p:sp>
        <p:nvSpPr>
          <p:cNvPr id="418"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https://kubernetes.io/docs/concepts/services-networking/ingress/</a:t>
            </a:r>
            <a:r>
              <a:rPr b="0" lang="en-US" sz="1100" strike="noStrike" u="none">
                <a:solidFill>
                  <a:srgbClr val="000000"/>
                </a:solidFill>
                <a:effectLst/>
                <a:uFillTx/>
                <a:latin typeface="Arial"/>
                <a:ea typeface="Arial"/>
              </a:rPr>
              <a:t> </a:t>
            </a:r>
            <a:endParaRPr b="0" lang="en-US" sz="1100" strike="noStrike" u="none">
              <a:solidFill>
                <a:srgbClr val="000000"/>
              </a:solidFill>
              <a:effectLst/>
              <a:uFillTx/>
              <a:latin typeface="Arial"/>
            </a:endParaRPr>
          </a:p>
        </p:txBody>
      </p:sp>
      <p:sp>
        <p:nvSpPr>
          <p:cNvPr id="419" name="PlaceHolder 3"/>
          <p:cNvSpPr>
            <a:spLocks noGrp="1"/>
          </p:cNvSpPr>
          <p:nvPr>
            <p:ph type="sldNum" idx="65"/>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2A083EF-6D9D-45B7-AC22-0EDB0D060D3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5320" cy="3085200"/>
          </a:xfrm>
          <a:prstGeom prst="rect">
            <a:avLst/>
          </a:prstGeom>
          <a:ln w="0">
            <a:noFill/>
          </a:ln>
        </p:spPr>
      </p:sp>
      <p:sp>
        <p:nvSpPr>
          <p:cNvPr id="421"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highlight>
                  <a:srgbClr val="ffffff"/>
                </a:highlight>
                <a:uFillTx/>
                <a:latin typeface="Roboto"/>
                <a:ea typeface="Roboto"/>
              </a:rPr>
              <a:t>Ingress exposes HTTP and HTTPS routes from outside the cluster to </a:t>
            </a:r>
            <a:r>
              <a:rPr b="0" lang="en-US" sz="1200" strike="noStrike" u="sng">
                <a:solidFill>
                  <a:srgbClr val="000000"/>
                </a:solidFill>
                <a:effectLst/>
                <a:highlight>
                  <a:srgbClr val="ffffff"/>
                </a:highlight>
                <a:uFillTx/>
                <a:latin typeface="Roboto"/>
                <a:ea typeface="Roboto"/>
                <a:hlinkClick r:id="rId1"/>
              </a:rPr>
              <a:t>services</a:t>
            </a:r>
            <a:r>
              <a:rPr b="0" lang="en-US" sz="1200" strike="noStrike" u="none">
                <a:solidFill>
                  <a:srgbClr val="000000"/>
                </a:solidFill>
                <a:effectLst/>
                <a:highlight>
                  <a:srgbClr val="ffffff"/>
                </a:highlight>
                <a:uFillTx/>
                <a:latin typeface="Roboto"/>
                <a:ea typeface="Roboto"/>
              </a:rPr>
              <a:t> within the cluster. Traffic routing is controlled by rules defined on the Ingress resource. Depending on the underlying ingress controller implementation, Ingress object can also handle things like SSL termination.</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highlight>
                  <a:srgbClr val="ffffff"/>
                </a:highlight>
                <a:uFillTx/>
                <a:latin typeface="Roboto"/>
                <a:ea typeface="Roboto"/>
              </a:rPr>
              <a:t>An Ingress object will cause an Ingress Controller (essentially a plugin) to configure some underlying device to accommodate it's rules. Here is a list of Ingress controllers, </a:t>
            </a:r>
            <a:r>
              <a:rPr b="0" lang="en-US" sz="1100" strike="noStrike" u="sng">
                <a:solidFill>
                  <a:srgbClr val="000000"/>
                </a:solidFill>
                <a:effectLst/>
                <a:uFillTx/>
                <a:latin typeface="Arial"/>
                <a:ea typeface="Arial"/>
                <a:hlinkClick r:id="rId2"/>
              </a:rPr>
              <a:t>https://kubernetes.io/docs/concepts/services-networking/ingress-controllers/</a:t>
            </a:r>
            <a:endParaRPr b="0" lang="en-US" sz="1100" strike="noStrike" u="none">
              <a:solidFill>
                <a:srgbClr val="000000"/>
              </a:solidFill>
              <a:effectLst/>
              <a:uFillTx/>
              <a:latin typeface="Arial"/>
            </a:endParaRPr>
          </a:p>
        </p:txBody>
      </p:sp>
      <p:sp>
        <p:nvSpPr>
          <p:cNvPr id="422" name="PlaceHolder 3"/>
          <p:cNvSpPr>
            <a:spLocks noGrp="1"/>
          </p:cNvSpPr>
          <p:nvPr>
            <p:ph type="sldNum" idx="66"/>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FB63E37-72D9-4E10-8739-247D7777620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5320" cy="3085200"/>
          </a:xfrm>
          <a:prstGeom prst="rect">
            <a:avLst/>
          </a:prstGeom>
          <a:ln w="0">
            <a:noFill/>
          </a:ln>
        </p:spPr>
      </p:sp>
      <p:sp>
        <p:nvSpPr>
          <p:cNvPr id="424"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Ingress objects can be used to give your users a single entrypoint into multiple services. This may also reduce cost as you do not need a public ip for every service.</a:t>
            </a:r>
            <a:endParaRPr b="0" lang="en-US" sz="1200" strike="noStrike" u="none">
              <a:solidFill>
                <a:srgbClr val="000000"/>
              </a:solidFill>
              <a:effectLst/>
              <a:uFillTx/>
              <a:latin typeface="Arial"/>
            </a:endParaRPr>
          </a:p>
        </p:txBody>
      </p:sp>
      <p:sp>
        <p:nvSpPr>
          <p:cNvPr id="425" name="PlaceHolder 3"/>
          <p:cNvSpPr>
            <a:spLocks noGrp="1"/>
          </p:cNvSpPr>
          <p:nvPr>
            <p:ph type="sldNum" idx="67"/>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DBD845B-8103-4C1E-AFA1-FC29C2EF78B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5320" cy="3085200"/>
          </a:xfrm>
          <a:prstGeom prst="rect">
            <a:avLst/>
          </a:prstGeom>
          <a:ln w="0">
            <a:noFill/>
          </a:ln>
        </p:spPr>
      </p:sp>
      <p:sp>
        <p:nvSpPr>
          <p:cNvPr id="427"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https://kubernetes.io/docs/concepts/workloads/controllers/daemonset/</a:t>
            </a:r>
            <a:r>
              <a:rPr b="0" lang="en-US" sz="1100" strike="noStrike" u="none">
                <a:solidFill>
                  <a:srgbClr val="000000"/>
                </a:solidFill>
                <a:effectLst/>
                <a:uFillTx/>
                <a:latin typeface="Arial"/>
                <a:ea typeface="Arial"/>
              </a:rPr>
              <a:t> </a:t>
            </a:r>
            <a:endParaRPr b="0" lang="en-US" sz="1100" strike="noStrike" u="none">
              <a:solidFill>
                <a:srgbClr val="000000"/>
              </a:solidFill>
              <a:effectLst/>
              <a:uFillTx/>
              <a:latin typeface="Arial"/>
            </a:endParaRPr>
          </a:p>
        </p:txBody>
      </p:sp>
      <p:sp>
        <p:nvSpPr>
          <p:cNvPr id="428" name="PlaceHolder 3"/>
          <p:cNvSpPr>
            <a:spLocks noGrp="1"/>
          </p:cNvSpPr>
          <p:nvPr>
            <p:ph type="sldNum" idx="68"/>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09407C3-7797-4440-8EC2-9D65D3690ED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685800" y="1143000"/>
            <a:ext cx="5485320" cy="3085200"/>
          </a:xfrm>
          <a:prstGeom prst="rect">
            <a:avLst/>
          </a:prstGeom>
          <a:ln w="0">
            <a:noFill/>
          </a:ln>
        </p:spPr>
      </p:sp>
      <p:sp>
        <p:nvSpPr>
          <p:cNvPr id="430"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Daemonsets are a special object, similar to a deployment, except it will create exactly one replica of our pod on every node (or some subset chosen by a selector).</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A lot of kubernetes internal services may run as daemonsets. Such as services grabbing metrics about each node or sending logs to a log aggregation system or the tools that attach storage to the nodes. You may have your own if you want to deploy say a network proxy for each node. </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p:txBody>
      </p:sp>
      <p:sp>
        <p:nvSpPr>
          <p:cNvPr id="431" name="PlaceHolder 3"/>
          <p:cNvSpPr>
            <a:spLocks noGrp="1"/>
          </p:cNvSpPr>
          <p:nvPr>
            <p:ph type="sldNum" idx="69"/>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5BC4BA2-7A7E-4DEC-871C-122B8582C58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685800" y="1143000"/>
            <a:ext cx="5485320" cy="3085200"/>
          </a:xfrm>
          <a:prstGeom prst="rect">
            <a:avLst/>
          </a:prstGeom>
          <a:ln w="0">
            <a:noFill/>
          </a:ln>
        </p:spPr>
      </p:sp>
      <p:sp>
        <p:nvSpPr>
          <p:cNvPr id="433"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https://kubernetes.io/docs/concepts/workloads/controllers/statefulset/</a:t>
            </a:r>
            <a:r>
              <a:rPr b="0" lang="en-US" sz="1100" strike="noStrike" u="none">
                <a:solidFill>
                  <a:srgbClr val="000000"/>
                </a:solidFill>
                <a:effectLst/>
                <a:uFillTx/>
                <a:latin typeface="Arial"/>
                <a:ea typeface="Arial"/>
              </a:rPr>
              <a:t> </a:t>
            </a:r>
            <a:endParaRPr b="0" lang="en-US" sz="1100" strike="noStrike" u="none">
              <a:solidFill>
                <a:srgbClr val="000000"/>
              </a:solidFill>
              <a:effectLst/>
              <a:uFillTx/>
              <a:latin typeface="Arial"/>
            </a:endParaRPr>
          </a:p>
        </p:txBody>
      </p:sp>
      <p:sp>
        <p:nvSpPr>
          <p:cNvPr id="434" name="PlaceHolder 3"/>
          <p:cNvSpPr>
            <a:spLocks noGrp="1"/>
          </p:cNvSpPr>
          <p:nvPr>
            <p:ph type="sldNum" idx="70"/>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3F25C6A-A224-47F5-8C0C-9B12CD93AC6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685800" y="1143000"/>
            <a:ext cx="5485320" cy="3085200"/>
          </a:xfrm>
          <a:prstGeom prst="rect">
            <a:avLst/>
          </a:prstGeom>
          <a:ln w="0">
            <a:noFill/>
          </a:ln>
        </p:spPr>
      </p:sp>
      <p:sp>
        <p:nvSpPr>
          <p:cNvPr id="436"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Statefulsets are another object that is similar to a deployment, except with the implication that the pods need special treatment, especially when it comes to creation and deletion. These are pets, not cattle.</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StatefulSets are suitable for deploying applications such as Kafka, MySQL, Redis, ZooKeeper, and other applications needing unique, persistent identities and stable hostnames. </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If I need 5 pods, each with a consistent hostname (like redis-0, redis-1, etc) and each has it's own PV, if I lose redis-2, it will be recreated with the same network hostname and pv attached.</a:t>
            </a:r>
            <a:endParaRPr b="0" lang="en-US" sz="1200" strike="noStrike" u="none">
              <a:solidFill>
                <a:srgbClr val="000000"/>
              </a:solidFill>
              <a:effectLst/>
              <a:uFillTx/>
              <a:latin typeface="Arial"/>
            </a:endParaRPr>
          </a:p>
        </p:txBody>
      </p:sp>
      <p:sp>
        <p:nvSpPr>
          <p:cNvPr id="437" name="PlaceHolder 3"/>
          <p:cNvSpPr>
            <a:spLocks noGrp="1"/>
          </p:cNvSpPr>
          <p:nvPr>
            <p:ph type="sldNum" idx="71"/>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E736000-B9D4-41F0-AA60-43A9357A715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685800" y="1143000"/>
            <a:ext cx="5485320" cy="3085200"/>
          </a:xfrm>
          <a:prstGeom prst="rect">
            <a:avLst/>
          </a:prstGeom>
          <a:ln w="0">
            <a:noFill/>
          </a:ln>
        </p:spPr>
      </p:sp>
      <p:sp>
        <p:nvSpPr>
          <p:cNvPr id="439"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457200" indent="-216000">
              <a:lnSpc>
                <a:spcPct val="175000"/>
              </a:lnSpc>
              <a:spcBef>
                <a:spcPts val="2999"/>
              </a:spcBef>
              <a:buNone/>
              <a:tabLst>
                <a:tab algn="l" pos="0"/>
              </a:tabLst>
            </a:pPr>
            <a:r>
              <a:rPr b="0" lang="en-US" sz="1100" strike="noStrike" u="sng">
                <a:solidFill>
                  <a:srgbClr val="000000"/>
                </a:solidFill>
                <a:effectLst/>
                <a:uFillTx/>
                <a:latin typeface="Arial"/>
                <a:ea typeface="Arial"/>
                <a:hlinkClick r:id="rId1"/>
              </a:rPr>
              <a:t>https://kubernetes.io/docs/concepts/workloads/controllers/jobs-run-to-completion/</a:t>
            </a:r>
            <a:endParaRPr b="0" lang="en-US" sz="1100" strike="noStrike" u="none">
              <a:solidFill>
                <a:srgbClr val="000000"/>
              </a:solidFill>
              <a:effectLst/>
              <a:uFillTx/>
              <a:latin typeface="Arial"/>
            </a:endParaRPr>
          </a:p>
          <a:p>
            <a:pPr marL="457200" indent="-216000">
              <a:lnSpc>
                <a:spcPct val="100000"/>
              </a:lnSpc>
              <a:spcBef>
                <a:spcPts val="3801"/>
              </a:spcBef>
              <a:buNone/>
              <a:tabLst>
                <a:tab algn="l" pos="0"/>
              </a:tabLst>
            </a:pPr>
            <a:endParaRPr b="0" lang="en-US" sz="1100" strike="noStrike" u="none">
              <a:solidFill>
                <a:srgbClr val="000000"/>
              </a:solidFill>
              <a:effectLst/>
              <a:uFillTx/>
              <a:latin typeface="Arial"/>
            </a:endParaRPr>
          </a:p>
        </p:txBody>
      </p:sp>
      <p:sp>
        <p:nvSpPr>
          <p:cNvPr id="440" name="PlaceHolder 3"/>
          <p:cNvSpPr>
            <a:spLocks noGrp="1"/>
          </p:cNvSpPr>
          <p:nvPr>
            <p:ph type="sldNum" idx="72"/>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45869DC-F970-4F29-A3D4-232AAC20A7F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685800" y="1143000"/>
            <a:ext cx="5485320" cy="3085200"/>
          </a:xfrm>
          <a:prstGeom prst="rect">
            <a:avLst/>
          </a:prstGeom>
          <a:ln w="0">
            <a:noFill/>
          </a:ln>
        </p:spPr>
      </p:sp>
      <p:sp>
        <p:nvSpPr>
          <p:cNvPr id="442"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We may have a script or short lived application that we just need to execute and once it terminates, we are done. We could do this by created a "Bare Pod", a Pod object we create directly that does not have a governing Deployment object.</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But what happens if the Pod crashes or the node it is executing on has an issue? A bare Pod object will not get recreated automatically. We may want to retry running the script somewhere else. Job objects can manage this retry logic for us, running our process until it completes successfully.</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050" strike="noStrike" u="none">
                <a:solidFill>
                  <a:srgbClr val="303030"/>
                </a:solidFill>
                <a:effectLst/>
                <a:highlight>
                  <a:srgbClr val="f7f7f7"/>
                </a:highlight>
                <a:uFillTx/>
                <a:latin typeface="Roboto Mono"/>
                <a:ea typeface="Roboto Mono"/>
              </a:rPr>
              <a:t>Use-cases:</a:t>
            </a:r>
            <a:endParaRPr b="0" lang="en-US" sz="1050" strike="noStrike" u="none">
              <a:solidFill>
                <a:srgbClr val="000000"/>
              </a:solidFill>
              <a:effectLst/>
              <a:uFillTx/>
              <a:latin typeface="Arial"/>
            </a:endParaRPr>
          </a:p>
          <a:p>
            <a:pPr marL="216000" indent="-216000">
              <a:lnSpc>
                <a:spcPct val="100000"/>
              </a:lnSpc>
              <a:buNone/>
              <a:tabLst>
                <a:tab algn="l" pos="0"/>
              </a:tabLst>
            </a:pPr>
            <a:r>
              <a:rPr b="0" lang="en-US" sz="1050" strike="noStrike" u="none">
                <a:solidFill>
                  <a:srgbClr val="303030"/>
                </a:solidFill>
                <a:effectLst/>
                <a:highlight>
                  <a:srgbClr val="f7f7f7"/>
                </a:highlight>
                <a:uFillTx/>
                <a:latin typeface="Roboto Mono"/>
                <a:ea typeface="Roboto Mono"/>
              </a:rPr>
              <a:t>DB backup</a:t>
            </a:r>
            <a:endParaRPr b="0" lang="en-US" sz="1050" strike="noStrike" u="none">
              <a:solidFill>
                <a:srgbClr val="000000"/>
              </a:solidFill>
              <a:effectLst/>
              <a:uFillTx/>
              <a:latin typeface="Arial"/>
            </a:endParaRPr>
          </a:p>
          <a:p>
            <a:pPr marL="216000" indent="-216000">
              <a:lnSpc>
                <a:spcPct val="100000"/>
              </a:lnSpc>
              <a:buNone/>
              <a:tabLst>
                <a:tab algn="l" pos="0"/>
              </a:tabLst>
            </a:pPr>
            <a:r>
              <a:rPr b="0" lang="en-US" sz="1050" strike="noStrike" u="none">
                <a:solidFill>
                  <a:srgbClr val="303030"/>
                </a:solidFill>
                <a:effectLst/>
                <a:highlight>
                  <a:srgbClr val="f7f7f7"/>
                </a:highlight>
                <a:uFillTx/>
                <a:latin typeface="Roboto Mono"/>
                <a:ea typeface="Roboto Mono"/>
              </a:rPr>
              <a:t>Report generation</a:t>
            </a:r>
            <a:endParaRPr b="0" lang="en-US" sz="1050" strike="noStrike" u="none">
              <a:solidFill>
                <a:srgbClr val="000000"/>
              </a:solidFill>
              <a:effectLst/>
              <a:uFillTx/>
              <a:latin typeface="Arial"/>
            </a:endParaRPr>
          </a:p>
          <a:p>
            <a:pPr marL="216000" indent="-216000">
              <a:lnSpc>
                <a:spcPct val="100000"/>
              </a:lnSpc>
              <a:buNone/>
              <a:tabLst>
                <a:tab algn="l" pos="0"/>
              </a:tabLst>
            </a:pPr>
            <a:r>
              <a:rPr b="0" lang="en-US" sz="1050" strike="noStrike" u="none">
                <a:solidFill>
                  <a:srgbClr val="303030"/>
                </a:solidFill>
                <a:effectLst/>
                <a:highlight>
                  <a:srgbClr val="f7f7f7"/>
                </a:highlight>
                <a:uFillTx/>
                <a:latin typeface="Roboto Mono"/>
                <a:ea typeface="Roboto Mono"/>
              </a:rPr>
              <a:t>data analytics jobs</a:t>
            </a:r>
            <a:endParaRPr b="0" lang="en-US" sz="105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p:txBody>
      </p:sp>
      <p:sp>
        <p:nvSpPr>
          <p:cNvPr id="443" name="PlaceHolder 3"/>
          <p:cNvSpPr>
            <a:spLocks noGrp="1"/>
          </p:cNvSpPr>
          <p:nvPr>
            <p:ph type="sldNum" idx="73"/>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46133C5-84F5-487C-AE97-61153E96CAB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685800" y="1143000"/>
            <a:ext cx="5485320" cy="3085200"/>
          </a:xfrm>
          <a:prstGeom prst="rect">
            <a:avLst/>
          </a:prstGeom>
          <a:ln w="0">
            <a:noFill/>
          </a:ln>
        </p:spPr>
      </p:sp>
      <p:sp>
        <p:nvSpPr>
          <p:cNvPr id="445"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If a pod created by a job fails/crashes/disappears, the Job will create a new pod.</a:t>
            </a:r>
            <a:endParaRPr b="0" lang="en-US" sz="1200" strike="noStrike" u="none">
              <a:solidFill>
                <a:srgbClr val="000000"/>
              </a:solidFill>
              <a:effectLst/>
              <a:uFillTx/>
              <a:latin typeface="Arial"/>
            </a:endParaRPr>
          </a:p>
        </p:txBody>
      </p:sp>
      <p:sp>
        <p:nvSpPr>
          <p:cNvPr id="446" name="PlaceHolder 3"/>
          <p:cNvSpPr>
            <a:spLocks noGrp="1"/>
          </p:cNvSpPr>
          <p:nvPr>
            <p:ph type="sldNum" idx="74"/>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92DDF71-ADD9-474B-890C-25160F712DA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685800" y="1143000"/>
            <a:ext cx="5485320" cy="3085200"/>
          </a:xfrm>
          <a:prstGeom prst="rect">
            <a:avLst/>
          </a:prstGeom>
          <a:ln w="0">
            <a:noFill/>
          </a:ln>
        </p:spPr>
      </p:sp>
      <p:sp>
        <p:nvSpPr>
          <p:cNvPr id="448"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49" name="PlaceHolder 3"/>
          <p:cNvSpPr>
            <a:spLocks noGrp="1"/>
          </p:cNvSpPr>
          <p:nvPr>
            <p:ph type="sldNum" idx="75"/>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FAFB3B8-10B7-45E7-B8EC-24CFC126A7C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685800" y="1143000"/>
            <a:ext cx="5485320" cy="3085200"/>
          </a:xfrm>
          <a:prstGeom prst="rect">
            <a:avLst/>
          </a:prstGeom>
          <a:ln w="0">
            <a:noFill/>
          </a:ln>
        </p:spPr>
      </p:sp>
      <p:sp>
        <p:nvSpPr>
          <p:cNvPr id="451"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52" name="PlaceHolder 3"/>
          <p:cNvSpPr>
            <a:spLocks noGrp="1"/>
          </p:cNvSpPr>
          <p:nvPr>
            <p:ph type="sldNum" idx="76"/>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51FBBE5-E2D3-499C-B5D0-B7BC83412CB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685800" y="1143000"/>
            <a:ext cx="5485320" cy="3085200"/>
          </a:xfrm>
          <a:prstGeom prst="rect">
            <a:avLst/>
          </a:prstGeom>
          <a:ln w="0">
            <a:noFill/>
          </a:ln>
        </p:spPr>
      </p:sp>
      <p:sp>
        <p:nvSpPr>
          <p:cNvPr id="454"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If our pod completes with a clean exit-code, then the Job is a success!</a:t>
            </a:r>
            <a:endParaRPr b="0" lang="en-US" sz="1200" strike="noStrike" u="none">
              <a:solidFill>
                <a:srgbClr val="000000"/>
              </a:solidFill>
              <a:effectLst/>
              <a:uFillTx/>
              <a:latin typeface="Arial"/>
            </a:endParaRPr>
          </a:p>
        </p:txBody>
      </p:sp>
      <p:sp>
        <p:nvSpPr>
          <p:cNvPr id="455" name="PlaceHolder 3"/>
          <p:cNvSpPr>
            <a:spLocks noGrp="1"/>
          </p:cNvSpPr>
          <p:nvPr>
            <p:ph type="sldNum" idx="77"/>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1332836-A369-437D-9F7F-AA1237D6A0A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685800" y="1143000"/>
            <a:ext cx="5485320" cy="3085200"/>
          </a:xfrm>
          <a:prstGeom prst="rect">
            <a:avLst/>
          </a:prstGeom>
          <a:ln w="0">
            <a:noFill/>
          </a:ln>
        </p:spPr>
      </p:sp>
      <p:sp>
        <p:nvSpPr>
          <p:cNvPr id="457"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https://kubernetes.io/docs/concepts/workloads/controllers/cron-jobs/</a:t>
            </a:r>
            <a:endParaRPr b="0" lang="en-US" sz="1100" strike="noStrike" u="none">
              <a:solidFill>
                <a:srgbClr val="000000"/>
              </a:solidFill>
              <a:effectLst/>
              <a:uFillTx/>
              <a:latin typeface="Arial"/>
            </a:endParaRPr>
          </a:p>
        </p:txBody>
      </p:sp>
      <p:sp>
        <p:nvSpPr>
          <p:cNvPr id="458" name="PlaceHolder 3"/>
          <p:cNvSpPr>
            <a:spLocks noGrp="1"/>
          </p:cNvSpPr>
          <p:nvPr>
            <p:ph type="sldNum" idx="78"/>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99F8A3F-1D13-4078-8A13-873EF229657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685800" y="1143000"/>
            <a:ext cx="5485320" cy="3085200"/>
          </a:xfrm>
          <a:prstGeom prst="rect">
            <a:avLst/>
          </a:prstGeom>
          <a:ln w="0">
            <a:noFill/>
          </a:ln>
        </p:spPr>
      </p:sp>
      <p:sp>
        <p:nvSpPr>
          <p:cNvPr id="460"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CronJobs simply allow us to create Job objects on a periodic schedule.</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The schedule is defined with typical cron expression syntax, see: </a:t>
            </a:r>
            <a:r>
              <a:rPr b="0" lang="en-US" sz="1100" strike="noStrike" u="sng">
                <a:solidFill>
                  <a:srgbClr val="000000"/>
                </a:solidFill>
                <a:effectLst/>
                <a:uFillTx/>
                <a:latin typeface="Arial"/>
                <a:ea typeface="Arial"/>
                <a:hlinkClick r:id="rId1"/>
              </a:rPr>
              <a:t>https://en.wikipedia.org/wiki/Cron</a:t>
            </a:r>
            <a:endParaRPr b="0" lang="en-US" sz="11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p:txBody>
      </p:sp>
      <p:sp>
        <p:nvSpPr>
          <p:cNvPr id="461" name="PlaceHolder 3"/>
          <p:cNvSpPr>
            <a:spLocks noGrp="1"/>
          </p:cNvSpPr>
          <p:nvPr>
            <p:ph type="sldNum" idx="79"/>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24C4A02-5092-4322-8412-6F0820A3851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685800" y="1143000"/>
            <a:ext cx="5485320" cy="3085200"/>
          </a:xfrm>
          <a:prstGeom prst="rect">
            <a:avLst/>
          </a:prstGeom>
          <a:ln w="0">
            <a:noFill/>
          </a:ln>
        </p:spPr>
      </p:sp>
      <p:sp>
        <p:nvSpPr>
          <p:cNvPr id="463"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https://kubernetes.io/docs/concepts/configuration/manage-compute-resources-container/</a:t>
            </a:r>
            <a:endParaRPr b="0" lang="en-US" sz="1100" strike="noStrike" u="none">
              <a:solidFill>
                <a:srgbClr val="000000"/>
              </a:solidFill>
              <a:effectLst/>
              <a:uFillTx/>
              <a:latin typeface="Arial"/>
            </a:endParaRPr>
          </a:p>
        </p:txBody>
      </p:sp>
      <p:sp>
        <p:nvSpPr>
          <p:cNvPr id="464" name="PlaceHolder 3"/>
          <p:cNvSpPr>
            <a:spLocks noGrp="1"/>
          </p:cNvSpPr>
          <p:nvPr>
            <p:ph type="sldNum" idx="80"/>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221CD86-BBA3-43CE-876B-208BC83C706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685800" y="1143000"/>
            <a:ext cx="5485320" cy="3085200"/>
          </a:xfrm>
          <a:prstGeom prst="rect">
            <a:avLst/>
          </a:prstGeom>
          <a:ln w="0">
            <a:noFill/>
          </a:ln>
        </p:spPr>
      </p:sp>
      <p:sp>
        <p:nvSpPr>
          <p:cNvPr id="466"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67" name="PlaceHolder 3"/>
          <p:cNvSpPr>
            <a:spLocks noGrp="1"/>
          </p:cNvSpPr>
          <p:nvPr>
            <p:ph type="sldNum" idx="81"/>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3B1173D-FB09-49FF-A74D-F9DFF48FDBF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685800" y="1143000"/>
            <a:ext cx="5485320" cy="3085200"/>
          </a:xfrm>
          <a:prstGeom prst="rect">
            <a:avLst/>
          </a:prstGeom>
          <a:ln w="0">
            <a:noFill/>
          </a:ln>
        </p:spPr>
      </p:sp>
      <p:sp>
        <p:nvSpPr>
          <p:cNvPr id="469"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70" name="PlaceHolder 3"/>
          <p:cNvSpPr>
            <a:spLocks noGrp="1"/>
          </p:cNvSpPr>
          <p:nvPr>
            <p:ph type="sldNum" idx="82"/>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175933A-ADEF-4129-BAC5-C7FBC90971F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685800" y="1143000"/>
            <a:ext cx="5485320" cy="3085200"/>
          </a:xfrm>
          <a:prstGeom prst="rect">
            <a:avLst/>
          </a:prstGeom>
          <a:ln w="0">
            <a:noFill/>
          </a:ln>
        </p:spPr>
      </p:sp>
      <p:sp>
        <p:nvSpPr>
          <p:cNvPr id="472"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73" name="PlaceHolder 3"/>
          <p:cNvSpPr>
            <a:spLocks noGrp="1"/>
          </p:cNvSpPr>
          <p:nvPr>
            <p:ph type="sldNum" idx="83"/>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AD72333-FD1A-43A7-8D6D-9D502EE14D2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a:t>
            </a:r>
            <a:r>
              <a:rPr b="0" lang="en-US" sz="1800" strike="noStrike" u="none">
                <a:solidFill>
                  <a:srgbClr val="000000"/>
                </a:solidFill>
                <a:effectLst/>
                <a:uFillTx/>
                <a:latin typeface="Arial"/>
              </a:rPr>
              <a:t>ck </a:t>
            </a:r>
            <a:r>
              <a:rPr b="0" lang="en-US" sz="1800" strike="noStrike" u="none">
                <a:solidFill>
                  <a:srgbClr val="000000"/>
                </a:solidFill>
                <a:effectLst/>
                <a:uFillTx/>
                <a:latin typeface="Arial"/>
              </a:rPr>
              <a:t>to </a:t>
            </a:r>
            <a:r>
              <a:rPr b="0" lang="en-US" sz="1800" strike="noStrike" u="none">
                <a:solidFill>
                  <a:srgbClr val="000000"/>
                </a:solidFill>
                <a:effectLst/>
                <a:uFillTx/>
                <a:latin typeface="Arial"/>
              </a:rPr>
              <a:t>ed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te</a:t>
            </a:r>
            <a:r>
              <a:rPr b="0" lang="en-US" sz="1800" strike="noStrike" u="none">
                <a:solidFill>
                  <a:srgbClr val="000000"/>
                </a:solidFill>
                <a:effectLst/>
                <a:uFillTx/>
                <a:latin typeface="Arial"/>
              </a:rPr>
              <a:t>xt </a:t>
            </a:r>
            <a:r>
              <a:rPr b="0" lang="en-US" sz="1800" strike="noStrike" u="none">
                <a:solidFill>
                  <a:srgbClr val="000000"/>
                </a:solidFill>
                <a:effectLst/>
                <a:uFillTx/>
                <a:latin typeface="Arial"/>
              </a:rPr>
              <a:t>for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a:t>
            </a:r>
            <a:r>
              <a:rPr b="0" lang="en-US" sz="1800" strike="noStrike" u="none">
                <a:solidFill>
                  <a:srgbClr val="000000"/>
                </a:solidFill>
                <a:effectLst/>
                <a:uFillTx/>
                <a:latin typeface="Arial"/>
              </a:rPr>
              <a:t>Level</a:t>
            </a:r>
            <a:endParaRPr b="0" lang="en-US" sz="1800" strike="noStrike" u="none">
              <a:solidFill>
                <a:srgbClr val="000000"/>
              </a:solidFill>
              <a:effectLst/>
              <a:uFillTx/>
              <a:latin typeface="Arial"/>
            </a:endParaRPr>
          </a:p>
        </p:txBody>
      </p:sp>
      <p:sp>
        <p:nvSpPr>
          <p:cNvPr id="3"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a:t>
            </a:r>
            <a:r>
              <a:rPr b="0" lang="en-US" sz="1800" strike="noStrike" u="none">
                <a:solidFill>
                  <a:srgbClr val="000000"/>
                </a:solidFill>
                <a:effectLst/>
                <a:uFillTx/>
                <a:latin typeface="Arial"/>
              </a:rPr>
              <a:t>title text format</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a:t>
            </a:r>
            <a:r>
              <a:rPr b="0" lang="en-US" sz="1800" strike="noStrike" u="none">
                <a:solidFill>
                  <a:srgbClr val="000000"/>
                </a:solidFill>
                <a:effectLst/>
                <a:uFillTx/>
                <a:latin typeface="Arial"/>
              </a:rPr>
              <a:t>ck </a:t>
            </a:r>
            <a:r>
              <a:rPr b="0" lang="en-US" sz="1800" strike="noStrike" u="none">
                <a:solidFill>
                  <a:srgbClr val="000000"/>
                </a:solidFill>
                <a:effectLst/>
                <a:uFillTx/>
                <a:latin typeface="Arial"/>
              </a:rPr>
              <a:t>to </a:t>
            </a:r>
            <a:r>
              <a:rPr b="0" lang="en-US" sz="1800" strike="noStrike" u="none">
                <a:solidFill>
                  <a:srgbClr val="000000"/>
                </a:solidFill>
                <a:effectLst/>
                <a:uFillTx/>
                <a:latin typeface="Arial"/>
              </a:rPr>
              <a:t>ed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te</a:t>
            </a:r>
            <a:r>
              <a:rPr b="0" lang="en-US" sz="1800" strike="noStrike" u="none">
                <a:solidFill>
                  <a:srgbClr val="000000"/>
                </a:solidFill>
                <a:effectLst/>
                <a:uFillTx/>
                <a:latin typeface="Arial"/>
              </a:rPr>
              <a:t>xt </a:t>
            </a:r>
            <a:r>
              <a:rPr b="0" lang="en-US" sz="1800" strike="noStrike" u="none">
                <a:solidFill>
                  <a:srgbClr val="000000"/>
                </a:solidFill>
                <a:effectLst/>
                <a:uFillTx/>
                <a:latin typeface="Arial"/>
              </a:rPr>
              <a:t>for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at</a:t>
            </a:r>
            <a:endParaRPr b="0" lang="en-US" sz="1800" strike="noStrike" u="none">
              <a:solidFill>
                <a:srgbClr val="000000"/>
              </a:solidFill>
              <a:effectLst/>
              <a:uFillTx/>
              <a:latin typeface="Arial"/>
            </a:endParaRPr>
          </a:p>
        </p:txBody>
      </p:sp>
      <p:sp>
        <p:nvSpPr>
          <p:cNvPr id="9"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a:t>
            </a:r>
            <a:r>
              <a:rPr b="0" lang="en-US" sz="1800" strike="noStrike" u="none">
                <a:solidFill>
                  <a:srgbClr val="000000"/>
                </a:solidFill>
                <a:effectLst/>
                <a:uFillTx/>
                <a:latin typeface="Arial"/>
              </a:rPr>
              <a:t>title text format</a:t>
            </a:r>
            <a:endParaRPr b="0" lang="en-US" sz="1800" strike="noStrike" u="none">
              <a:solidFill>
                <a:srgbClr val="000000"/>
              </a:solidFill>
              <a:effectLst/>
              <a:uFillTx/>
              <a:latin typeface="Arial"/>
            </a:endParaRPr>
          </a:p>
        </p:txBody>
      </p:sp>
      <p:sp>
        <p:nvSpPr>
          <p:cNvPr id="1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blipFill rotWithShape="0">
          <a:blip r:embed="rId2"/>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a:t>
            </a:r>
            <a:r>
              <a:rPr b="0" lang="en-US" sz="1800" strike="noStrike" u="none">
                <a:solidFill>
                  <a:srgbClr val="000000"/>
                </a:solidFill>
                <a:effectLst/>
                <a:uFillTx/>
                <a:latin typeface="Arial"/>
              </a:rPr>
              <a:t>title text format</a:t>
            </a:r>
            <a:endParaRPr b="0" lang="en-US" sz="1800" strike="noStrike" u="none">
              <a:solidFill>
                <a:srgbClr val="000000"/>
              </a:solidFill>
              <a:effectLst/>
              <a:uFillTx/>
              <a:latin typeface="Arial"/>
            </a:endParaRPr>
          </a:p>
        </p:txBody>
      </p:sp>
      <p:sp>
        <p:nvSpPr>
          <p:cNvPr id="17"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blipFill rotWithShape="0">
          <a:blip r:embed="rId2"/>
          <a:stretch/>
        </a:blip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a:t>
            </a:r>
            <a:r>
              <a:rPr b="0" lang="en-US" sz="4400" strike="noStrike" u="none">
                <a:solidFill>
                  <a:srgbClr val="000000"/>
                </a:solidFill>
                <a:effectLst/>
                <a:uFillTx/>
                <a:latin typeface="Arial"/>
              </a:rPr>
              <a:t>ck </a:t>
            </a:r>
            <a:r>
              <a:rPr b="0" lang="en-US" sz="4400" strike="noStrike" u="none">
                <a:solidFill>
                  <a:srgbClr val="000000"/>
                </a:solidFill>
                <a:effectLst/>
                <a:uFillTx/>
                <a:latin typeface="Arial"/>
              </a:rPr>
              <a:t>to </a:t>
            </a:r>
            <a:r>
              <a:rPr b="0" lang="en-US" sz="4400" strike="noStrike" u="none">
                <a:solidFill>
                  <a:srgbClr val="000000"/>
                </a:solidFill>
                <a:effectLst/>
                <a:uFillTx/>
                <a:latin typeface="Arial"/>
              </a:rPr>
              <a:t>ed</a:t>
            </a:r>
            <a:r>
              <a:rPr b="0" lang="en-US" sz="4400" strike="noStrike" u="none">
                <a:solidFill>
                  <a:srgbClr val="000000"/>
                </a:solidFill>
                <a:effectLst/>
                <a:uFillTx/>
                <a:latin typeface="Arial"/>
              </a:rPr>
              <a:t>it </a:t>
            </a:r>
            <a:r>
              <a:rPr b="0" lang="en-US" sz="4400" strike="noStrike" u="none">
                <a:solidFill>
                  <a:srgbClr val="000000"/>
                </a:solidFill>
                <a:effectLst/>
                <a:uFillTx/>
                <a:latin typeface="Arial"/>
              </a:rPr>
              <a:t>th</a:t>
            </a:r>
            <a:r>
              <a:rPr b="0" lang="en-US" sz="4400" strike="noStrike" u="none">
                <a:solidFill>
                  <a:srgbClr val="000000"/>
                </a:solidFill>
                <a:effectLst/>
                <a:uFillTx/>
                <a:latin typeface="Arial"/>
              </a:rPr>
              <a:t>e </a:t>
            </a:r>
            <a:r>
              <a:rPr b="0" lang="en-US" sz="4400" strike="noStrike" u="none">
                <a:solidFill>
                  <a:srgbClr val="000000"/>
                </a:solidFill>
                <a:effectLst/>
                <a:uFillTx/>
                <a:latin typeface="Arial"/>
              </a:rPr>
              <a:t>titl</a:t>
            </a:r>
            <a:r>
              <a:rPr b="0" lang="en-US" sz="4400" strike="noStrike" u="none">
                <a:solidFill>
                  <a:srgbClr val="000000"/>
                </a:solidFill>
                <a:effectLst/>
                <a:uFillTx/>
                <a:latin typeface="Arial"/>
              </a:rPr>
              <a:t>e </a:t>
            </a:r>
            <a:r>
              <a:rPr b="0" lang="en-US" sz="4400" strike="noStrike" u="none">
                <a:solidFill>
                  <a:srgbClr val="000000"/>
                </a:solidFill>
                <a:effectLst/>
                <a:uFillTx/>
                <a:latin typeface="Arial"/>
              </a:rPr>
              <a:t>te</a:t>
            </a:r>
            <a:r>
              <a:rPr b="0" lang="en-US" sz="4400" strike="noStrike" u="none">
                <a:solidFill>
                  <a:srgbClr val="000000"/>
                </a:solidFill>
                <a:effectLst/>
                <a:uFillTx/>
                <a:latin typeface="Arial"/>
              </a:rPr>
              <a:t>xt </a:t>
            </a:r>
            <a:r>
              <a:rPr b="0" lang="en-US" sz="4400" strike="noStrike" u="none">
                <a:solidFill>
                  <a:srgbClr val="000000"/>
                </a:solidFill>
                <a:effectLst/>
                <a:uFillTx/>
                <a:latin typeface="Arial"/>
              </a:rPr>
              <a:t>for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at</a:t>
            </a:r>
            <a:endParaRPr b="0" lang="en-US" sz="4400" strike="noStrike" u="none">
              <a:solidFill>
                <a:srgbClr val="000000"/>
              </a:solidFill>
              <a:effectLst/>
              <a:uFillTx/>
              <a:latin typeface="Arial"/>
            </a:endParaRPr>
          </a:p>
        </p:txBody>
      </p:sp>
      <p:sp>
        <p:nvSpPr>
          <p:cNvPr id="2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blipFill rotWithShape="0">
          <a:blip r:embed="rId2"/>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a:t>
            </a:r>
            <a:r>
              <a:rPr b="0" lang="en-US" sz="1800" strike="noStrike" u="none">
                <a:solidFill>
                  <a:srgbClr val="000000"/>
                </a:solidFill>
                <a:effectLst/>
                <a:uFillTx/>
                <a:latin typeface="Arial"/>
              </a:rPr>
              <a:t>text format</a:t>
            </a:r>
            <a:endParaRPr b="0" lang="en-US" sz="1800" strike="noStrike" u="none">
              <a:solidFill>
                <a:srgbClr val="000000"/>
              </a:solidFill>
              <a:effectLst/>
              <a:uFillTx/>
              <a:latin typeface="Arial"/>
            </a:endParaRPr>
          </a:p>
        </p:txBody>
      </p:sp>
      <p:sp>
        <p:nvSpPr>
          <p:cNvPr id="2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blipFill rotWithShape="0">
          <a:blip r:embed="rId2"/>
          <a:stretch/>
        </a:blip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bg>
      <p:bgPr>
        <a:blipFill rotWithShape="0">
          <a:blip r:embed="rId2"/>
          <a:stretch/>
        </a:blipFill>
      </p:bgPr>
    </p:bg>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blipFill rotWithShape="0">
          <a:blip r:embed="rId2"/>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3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5"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blipFill rotWithShape="0">
          <a:blip r:embed="rId2"/>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37"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8"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9"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0" name="PlaceHolder 5"/>
          <p:cNvSpPr>
            <a:spLocks noGrp="1"/>
          </p:cNvSpPr>
          <p:nvPr>
            <p:ph type="ftr" idx="1"/>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6"/>
          <p:cNvSpPr>
            <a:spLocks noGrp="1"/>
          </p:cNvSpPr>
          <p:nvPr>
            <p:ph type="sldNum" idx="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970F7BC-0849-49B4-9DC9-28AC4FA307A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blipFill rotWithShape="0">
          <a:blip r:embed="rId2"/>
          <a:stretch/>
        </a:blip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a:t>
            </a:r>
            <a:r>
              <a:rPr b="0" lang="en-US" sz="1800" strike="noStrike" u="none">
                <a:solidFill>
                  <a:srgbClr val="000000"/>
                </a:solidFill>
                <a:effectLst/>
                <a:uFillTx/>
                <a:latin typeface="Arial"/>
              </a:rPr>
              <a:t>k to </a:t>
            </a:r>
            <a:r>
              <a:rPr b="0" lang="en-US" sz="1800" strike="noStrike" u="none">
                <a:solidFill>
                  <a:srgbClr val="000000"/>
                </a:solidFill>
                <a:effectLst/>
                <a:uFillTx/>
                <a:latin typeface="Arial"/>
              </a:rPr>
              <a:t>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
            </a:r>
            <a:r>
              <a:rPr b="0" lang="en-US" sz="1800" strike="noStrike" u="none">
                <a:solidFill>
                  <a:srgbClr val="000000"/>
                </a:solidFill>
                <a:effectLst/>
                <a:uFillTx/>
                <a:latin typeface="Arial"/>
              </a:rPr>
              <a:t>at</a:t>
            </a:r>
            <a:endParaRPr b="0" lang="en-US" sz="1800" strike="noStrike" u="none">
              <a:solidFill>
                <a:srgbClr val="000000"/>
              </a:solidFill>
              <a:effectLst/>
              <a:uFillTx/>
              <a:latin typeface="Arial"/>
            </a:endParaRPr>
          </a:p>
        </p:txBody>
      </p:sp>
      <p:sp>
        <p:nvSpPr>
          <p:cNvPr id="4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5"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6" name="PlaceHolder 5"/>
          <p:cNvSpPr>
            <a:spLocks noGrp="1"/>
          </p:cNvSpPr>
          <p:nvPr>
            <p:ph type="ftr" idx="3"/>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6"/>
          <p:cNvSpPr>
            <a:spLocks noGrp="1"/>
          </p:cNvSpPr>
          <p:nvPr>
            <p:ph type="sldNum" idx="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9DB0158-0193-472F-B0CE-C78415B206A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
    <p:bg>
      <p:bgPr>
        <a:blipFill rotWithShape="0">
          <a:blip r:embed="rId2"/>
          <a:stretch/>
        </a:blip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49"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0"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1" name="PlaceHolder 4"/>
          <p:cNvSpPr>
            <a:spLocks noGrp="1"/>
          </p:cNvSpPr>
          <p:nvPr>
            <p:ph type="ftr" idx="5"/>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5"/>
          <p:cNvSpPr>
            <a:spLocks noGrp="1"/>
          </p:cNvSpPr>
          <p:nvPr>
            <p:ph type="sldNum" idx="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F71B2F1-DAB2-478E-B217-0FB41148993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
    <p:bg>
      <p:bgPr>
        <a:blipFill rotWithShape="0">
          <a:blip r:embed="rId2"/>
          <a:stretch/>
        </a:blip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4"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5"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6"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7"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8" name="PlaceHolder 6"/>
          <p:cNvSpPr>
            <a:spLocks noGrp="1"/>
          </p:cNvSpPr>
          <p:nvPr>
            <p:ph type="ftr" idx="7"/>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7"/>
          <p:cNvSpPr>
            <a:spLocks noGrp="1"/>
          </p:cNvSpPr>
          <p:nvPr>
            <p:ph type="sldNum" idx="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B61E3D2-3E0F-4B64-AB6D-DAF0152CFBE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stretch/>
        </a:blip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1"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2"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3"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4"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6"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7" name="PlaceHolder 8"/>
          <p:cNvSpPr>
            <a:spLocks noGrp="1"/>
          </p:cNvSpPr>
          <p:nvPr>
            <p:ph type="ftr" idx="9"/>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68" name="PlaceHolder 9"/>
          <p:cNvSpPr>
            <a:spLocks noGrp="1"/>
          </p:cNvSpPr>
          <p:nvPr>
            <p:ph type="sldNum" idx="1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562ADCD-C491-4704-A56C-FDA83189EA5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stretch/>
        </a:blipFill>
      </p:bgPr>
    </p:bg>
    <p:spTree>
      <p:nvGrpSpPr>
        <p:cNvPr id="1" name=""/>
        <p:cNvGrpSpPr/>
        <p:nvPr/>
      </p:nvGrpSpPr>
      <p:grpSpPr>
        <a:xfrm>
          <a:off x="0" y="0"/>
          <a:ext cx="0" cy="0"/>
          <a:chOff x="0" y="0"/>
          <a:chExt cx="0" cy="0"/>
        </a:xfrm>
      </p:grpSpPr>
      <p:sp>
        <p:nvSpPr>
          <p:cNvPr id="69" name="PlaceHolder 1"/>
          <p:cNvSpPr>
            <a:spLocks noGrp="1"/>
          </p:cNvSpPr>
          <p:nvPr>
            <p:ph type="ftr" idx="11"/>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0" name="PlaceHolder 2"/>
          <p:cNvSpPr>
            <a:spLocks noGrp="1"/>
          </p:cNvSpPr>
          <p:nvPr>
            <p:ph type="sldNum" idx="1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C73EE84-0A0C-4956-9926-AAEB6C4B4CF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71"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2"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bg>
      <p:bgPr>
        <a:blipFill rotWithShape="0">
          <a:blip r:embed="rId2"/>
          <a:stretch/>
        </a:blip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4" name="PlaceHolder 2"/>
          <p:cNvSpPr>
            <a:spLocks noGrp="1"/>
          </p:cNvSpPr>
          <p:nvPr>
            <p:ph type="ftr" idx="13"/>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5" name="PlaceHolder 3"/>
          <p:cNvSpPr>
            <a:spLocks noGrp="1"/>
          </p:cNvSpPr>
          <p:nvPr>
            <p:ph type="sldNum" idx="1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96D2384-D17A-41F2-8E9C-10A177FBD6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bg>
      <p:bgPr>
        <a:blipFill rotWithShape="0">
          <a:blip r:embed="rId2"/>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8" name="PlaceHolder 3"/>
          <p:cNvSpPr>
            <a:spLocks noGrp="1"/>
          </p:cNvSpPr>
          <p:nvPr>
            <p:ph type="ftr" idx="15"/>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9" name="PlaceHolder 4"/>
          <p:cNvSpPr>
            <a:spLocks noGrp="1"/>
          </p:cNvSpPr>
          <p:nvPr>
            <p:ph type="sldNum" idx="1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C18705B-9544-4770-8AB5-7BB85DF5661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
    <p:bg>
      <p:bgPr>
        <a:blipFill rotWithShape="0">
          <a:blip r:embed="rId2"/>
          <a:stretch/>
        </a:blip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3" name="PlaceHolder 4"/>
          <p:cNvSpPr>
            <a:spLocks noGrp="1"/>
          </p:cNvSpPr>
          <p:nvPr>
            <p:ph type="ftr" idx="17"/>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4" name="PlaceHolder 5"/>
          <p:cNvSpPr>
            <a:spLocks noGrp="1"/>
          </p:cNvSpPr>
          <p:nvPr>
            <p:ph type="sldNum" idx="1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FA42B6D-8F4B-479C-A9E0-2FDDCEEF023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bg>
      <p:bgPr>
        <a:blipFill rotWithShape="0">
          <a:blip r:embed="rId2"/>
          <a:stretch/>
        </a:blip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6" name="PlaceHolder 2"/>
          <p:cNvSpPr>
            <a:spLocks noGrp="1"/>
          </p:cNvSpPr>
          <p:nvPr>
            <p:ph type="ftr" idx="19"/>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7" name="PlaceHolder 3"/>
          <p:cNvSpPr>
            <a:spLocks noGrp="1"/>
          </p:cNvSpPr>
          <p:nvPr>
            <p:ph type="sldNum" idx="2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447FF5E-8246-467D-9F7A-3BB3A6BFF34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0">
    <p:bg>
      <p:bgPr>
        <a:blipFill rotWithShape="0">
          <a:blip r:embed="rId2"/>
          <a:stretch/>
        </a:blipFill>
      </p:bgPr>
    </p:bg>
    <p:spTree>
      <p:nvGrpSpPr>
        <p:cNvPr id="1" name=""/>
        <p:cNvGrpSpPr/>
        <p:nvPr/>
      </p:nvGrpSpPr>
      <p:grpSpPr>
        <a:xfrm>
          <a:off x="0" y="0"/>
          <a:ext cx="0" cy="0"/>
          <a:chOff x="0" y="0"/>
          <a:chExt cx="0" cy="0"/>
        </a:xfrm>
      </p:grpSpPr>
      <p:sp>
        <p:nvSpPr>
          <p:cNvPr id="88" name="PlaceHolder 1"/>
          <p:cNvSpPr>
            <a:spLocks noGrp="1"/>
          </p:cNvSpPr>
          <p:nvPr>
            <p:ph type="ftr" idx="21"/>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9" name="PlaceHolder 2"/>
          <p:cNvSpPr>
            <a:spLocks noGrp="1"/>
          </p:cNvSpPr>
          <p:nvPr>
            <p:ph type="sldNum" idx="2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DAA6BA4-B0C1-4AF2-94C8-C7BE7F1BE7F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
    <p:bg>
      <p:bgPr>
        <a:blipFill rotWithShape="0">
          <a:blip r:embed="rId2"/>
          <a:stretch/>
        </a:blip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3"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4" name="PlaceHolder 5"/>
          <p:cNvSpPr>
            <a:spLocks noGrp="1"/>
          </p:cNvSpPr>
          <p:nvPr>
            <p:ph type="ftr" idx="23"/>
          </p:nvPr>
        </p:nvSpPr>
        <p:spPr>
          <a:xfrm>
            <a:off x="707760" y="6629400"/>
            <a:ext cx="3863520" cy="22788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95" name="PlaceHolder 6"/>
          <p:cNvSpPr>
            <a:spLocks noGrp="1"/>
          </p:cNvSpPr>
          <p:nvPr>
            <p:ph type="sldNum" idx="2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E8CD79C-72BD-407F-99D8-7FBC7C5B3B3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2">
    <p:bg>
      <p:bgPr>
        <a:blipFill rotWithShape="0">
          <a:blip r:embed="rId2"/>
          <a:stretch/>
        </a:blipFill>
      </p:bgPr>
    </p:bg>
    <p:spTree>
      <p:nvGrpSpPr>
        <p:cNvPr id="1" name=""/>
        <p:cNvGrpSpPr/>
        <p:nvPr/>
      </p:nvGrpSpPr>
      <p:grpSpPr>
        <a:xfrm>
          <a:off x="0" y="0"/>
          <a:ext cx="0" cy="0"/>
          <a:chOff x="0" y="0"/>
          <a:chExt cx="0" cy="0"/>
        </a:xfrm>
      </p:grpSpPr>
      <p:sp>
        <p:nvSpPr>
          <p:cNvPr id="96"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9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8"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0"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1" name="PlaceHolder 5"/>
          <p:cNvSpPr>
            <a:spLocks noGrp="1"/>
          </p:cNvSpPr>
          <p:nvPr>
            <p:ph type="sldNum" idx="2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0E0505D-B101-49B8-9382-392AD6AD845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3">
    <p:bg>
      <p:bgPr>
        <a:blipFill rotWithShape="0">
          <a:blip r:embed="rId2"/>
          <a:stretch/>
        </a:blipFill>
      </p:bgPr>
    </p:bg>
    <p:spTree>
      <p:nvGrpSpPr>
        <p:cNvPr id="1" name=""/>
        <p:cNvGrpSpPr/>
        <p:nvPr/>
      </p:nvGrpSpPr>
      <p:grpSpPr>
        <a:xfrm>
          <a:off x="0" y="0"/>
          <a:ext cx="0" cy="0"/>
          <a:chOff x="0" y="0"/>
          <a:chExt cx="0" cy="0"/>
        </a:xfrm>
      </p:grpSpPr>
      <p:sp>
        <p:nvSpPr>
          <p:cNvPr id="102"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0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4"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5"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6"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7" name="PlaceHolder 5"/>
          <p:cNvSpPr>
            <a:spLocks noGrp="1"/>
          </p:cNvSpPr>
          <p:nvPr>
            <p:ph type="sldNum" idx="2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E4AB418-1B5A-46B9-8FBF-97B6A523DEC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4">
    <p:bg>
      <p:bgPr>
        <a:blipFill rotWithShape="0">
          <a:blip r:embed="rId2"/>
          <a:stretch/>
        </a:blipFill>
      </p:bgPr>
    </p:bg>
    <p:spTree>
      <p:nvGrpSpPr>
        <p:cNvPr id="1" name=""/>
        <p:cNvGrpSpPr/>
        <p:nvPr/>
      </p:nvGrpSpPr>
      <p:grpSpPr>
        <a:xfrm>
          <a:off x="0" y="0"/>
          <a:ext cx="0" cy="0"/>
          <a:chOff x="0" y="0"/>
          <a:chExt cx="0" cy="0"/>
        </a:xfrm>
      </p:grpSpPr>
      <p:sp>
        <p:nvSpPr>
          <p:cNvPr id="108"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0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0"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1"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2" name="PlaceHolder 4"/>
          <p:cNvSpPr>
            <a:spLocks noGrp="1"/>
          </p:cNvSpPr>
          <p:nvPr>
            <p:ph type="sldNum" idx="27"/>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90B77B4-1673-4790-8589-9104BC17CAC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5">
    <p:bg>
      <p:bgPr>
        <a:blipFill rotWithShape="0">
          <a:blip r:embed="rId2"/>
          <a:stretch/>
        </a:blipFill>
      </p:bgPr>
    </p:bg>
    <p:spTree>
      <p:nvGrpSpPr>
        <p:cNvPr id="1" name=""/>
        <p:cNvGrpSpPr/>
        <p:nvPr/>
      </p:nvGrpSpPr>
      <p:grpSpPr>
        <a:xfrm>
          <a:off x="0" y="0"/>
          <a:ext cx="0" cy="0"/>
          <a:chOff x="0" y="0"/>
          <a:chExt cx="0" cy="0"/>
        </a:xfrm>
      </p:grpSpPr>
      <p:sp>
        <p:nvSpPr>
          <p:cNvPr id="113"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1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7"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8"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9" name="PlaceHolder 6"/>
          <p:cNvSpPr>
            <a:spLocks noGrp="1"/>
          </p:cNvSpPr>
          <p:nvPr>
            <p:ph type="sldNum" idx="2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5040E84-740D-43CD-8E7A-8E4CE9D05D9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blipFill rotWithShape="0">
          <a:blip r:embed="rId2"/>
          <a:stretch/>
        </a:blipFill>
      </p:bgPr>
    </p:bg>
    <p:spTree>
      <p:nvGrpSpPr>
        <p:cNvPr id="1" name=""/>
        <p:cNvGrpSpPr/>
        <p:nvPr/>
      </p:nvGrpSpPr>
      <p:grpSpPr>
        <a:xfrm>
          <a:off x="0" y="0"/>
          <a:ext cx="0" cy="0"/>
          <a:chOff x="0" y="0"/>
          <a:chExt cx="0" cy="0"/>
        </a:xfrm>
      </p:grpSpPr>
      <p:sp>
        <p:nvSpPr>
          <p:cNvPr id="120"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2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2"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3"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4"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5"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6"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7"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8" name="PlaceHolder 8"/>
          <p:cNvSpPr>
            <a:spLocks noGrp="1"/>
          </p:cNvSpPr>
          <p:nvPr>
            <p:ph type="sldNum" idx="29"/>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BF52616-EED9-4D5E-A9A6-6DE6B65914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blipFill rotWithShape="0">
          <a:blip r:embed="rId2"/>
          <a:stretch/>
        </a:blipFill>
      </p:bgPr>
    </p:bg>
    <p:spTree>
      <p:nvGrpSpPr>
        <p:cNvPr id="1" name=""/>
        <p:cNvGrpSpPr/>
        <p:nvPr/>
      </p:nvGrpSpPr>
      <p:grpSpPr>
        <a:xfrm>
          <a:off x="0" y="0"/>
          <a:ext cx="0" cy="0"/>
          <a:chOff x="0" y="0"/>
          <a:chExt cx="0" cy="0"/>
        </a:xfrm>
      </p:grpSpPr>
      <p:sp>
        <p:nvSpPr>
          <p:cNvPr id="129"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30" name="PlaceHolder 1"/>
          <p:cNvSpPr>
            <a:spLocks noGrp="1"/>
          </p:cNvSpPr>
          <p:nvPr>
            <p:ph type="sldNum" idx="3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7DBDFF8-41C6-47E4-9455-3B81C17731C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31"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3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8">
    <p:bg>
      <p:bgPr>
        <a:blipFill rotWithShape="0">
          <a:blip r:embed="rId2"/>
          <a:stretch/>
        </a:blipFill>
      </p:bgPr>
    </p:bg>
    <p:spTree>
      <p:nvGrpSpPr>
        <p:cNvPr id="1" name=""/>
        <p:cNvGrpSpPr/>
        <p:nvPr/>
      </p:nvGrpSpPr>
      <p:grpSpPr>
        <a:xfrm>
          <a:off x="0" y="0"/>
          <a:ext cx="0" cy="0"/>
          <a:chOff x="0" y="0"/>
          <a:chExt cx="0" cy="0"/>
        </a:xfrm>
      </p:grpSpPr>
      <p:sp>
        <p:nvSpPr>
          <p:cNvPr id="133"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3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5" name="PlaceHolder 2"/>
          <p:cNvSpPr>
            <a:spLocks noGrp="1"/>
          </p:cNvSpPr>
          <p:nvPr>
            <p:ph type="sldNum" idx="3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B1FF326-EEF9-47D8-8A34-03EAFDF0EA5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9">
    <p:bg>
      <p:bgPr>
        <a:blipFill rotWithShape="0">
          <a:blip r:embed="rId2"/>
          <a:stretch/>
        </a:blipFill>
      </p:bgPr>
    </p:bg>
    <p:spTree>
      <p:nvGrpSpPr>
        <p:cNvPr id="1" name=""/>
        <p:cNvGrpSpPr/>
        <p:nvPr/>
      </p:nvGrpSpPr>
      <p:grpSpPr>
        <a:xfrm>
          <a:off x="0" y="0"/>
          <a:ext cx="0" cy="0"/>
          <a:chOff x="0" y="0"/>
          <a:chExt cx="0" cy="0"/>
        </a:xfrm>
      </p:grpSpPr>
      <p:sp>
        <p:nvSpPr>
          <p:cNvPr id="136"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3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9" name="PlaceHolder 3"/>
          <p:cNvSpPr>
            <a:spLocks noGrp="1"/>
          </p:cNvSpPr>
          <p:nvPr>
            <p:ph type="sldNum" idx="3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2E6EC5C-A55F-4CC1-AA52-44AA33AF24D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0">
    <p:bg>
      <p:bgPr>
        <a:blipFill rotWithShape="0">
          <a:blip r:embed="rId2"/>
          <a:stretch/>
        </a:blipFill>
      </p:bgPr>
    </p:bg>
    <p:spTree>
      <p:nvGrpSpPr>
        <p:cNvPr id="1" name=""/>
        <p:cNvGrpSpPr/>
        <p:nvPr/>
      </p:nvGrpSpPr>
      <p:grpSpPr>
        <a:xfrm>
          <a:off x="0" y="0"/>
          <a:ext cx="0" cy="0"/>
          <a:chOff x="0" y="0"/>
          <a:chExt cx="0" cy="0"/>
        </a:xfrm>
      </p:grpSpPr>
      <p:sp>
        <p:nvSpPr>
          <p:cNvPr id="140"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4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2"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3"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4" name="PlaceHolder 4"/>
          <p:cNvSpPr>
            <a:spLocks noGrp="1"/>
          </p:cNvSpPr>
          <p:nvPr>
            <p:ph type="sldNum" idx="33"/>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9F4AD49-03F5-48F4-8AB0-6984188BD7E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1">
    <p:bg>
      <p:bgPr>
        <a:blipFill rotWithShape="0">
          <a:blip r:embed="rId2"/>
          <a:stretch/>
        </a:blipFill>
      </p:bgPr>
    </p:bg>
    <p:spTree>
      <p:nvGrpSpPr>
        <p:cNvPr id="1" name=""/>
        <p:cNvGrpSpPr/>
        <p:nvPr/>
      </p:nvGrpSpPr>
      <p:grpSpPr>
        <a:xfrm>
          <a:off x="0" y="0"/>
          <a:ext cx="0" cy="0"/>
          <a:chOff x="0" y="0"/>
          <a:chExt cx="0" cy="0"/>
        </a:xfrm>
      </p:grpSpPr>
      <p:sp>
        <p:nvSpPr>
          <p:cNvPr id="145"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4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7" name="PlaceHolder 2"/>
          <p:cNvSpPr>
            <a:spLocks noGrp="1"/>
          </p:cNvSpPr>
          <p:nvPr>
            <p:ph type="sldNum" idx="3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A14BF61-98A1-4FB7-9970-E7527BC88EC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2">
    <p:bg>
      <p:bgPr>
        <a:blipFill rotWithShape="0">
          <a:blip r:embed="rId2"/>
          <a:stretch/>
        </a:blipFill>
      </p:bgPr>
    </p:bg>
    <p:spTree>
      <p:nvGrpSpPr>
        <p:cNvPr id="1" name=""/>
        <p:cNvGrpSpPr/>
        <p:nvPr/>
      </p:nvGrpSpPr>
      <p:grpSpPr>
        <a:xfrm>
          <a:off x="0" y="0"/>
          <a:ext cx="0" cy="0"/>
          <a:chOff x="0" y="0"/>
          <a:chExt cx="0" cy="0"/>
        </a:xfrm>
      </p:grpSpPr>
      <p:sp>
        <p:nvSpPr>
          <p:cNvPr id="148"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49" name="PlaceHolder 1"/>
          <p:cNvSpPr>
            <a:spLocks noGrp="1"/>
          </p:cNvSpPr>
          <p:nvPr>
            <p:ph type="sldNum" idx="3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13B9AC3-C09C-47CC-B4C3-1F9F8676B76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3">
    <p:bg>
      <p:bgPr>
        <a:blipFill rotWithShape="0">
          <a:blip r:embed="rId2"/>
          <a:stretch/>
        </a:blipFill>
      </p:bgPr>
    </p:bg>
    <p:spTree>
      <p:nvGrpSpPr>
        <p:cNvPr id="1" name=""/>
        <p:cNvGrpSpPr/>
        <p:nvPr/>
      </p:nvGrpSpPr>
      <p:grpSpPr>
        <a:xfrm>
          <a:off x="0" y="0"/>
          <a:ext cx="0" cy="0"/>
          <a:chOff x="0" y="0"/>
          <a:chExt cx="0" cy="0"/>
        </a:xfrm>
      </p:grpSpPr>
      <p:sp>
        <p:nvSpPr>
          <p:cNvPr id="150" name=""/>
          <p:cNvSpPr/>
          <p:nvPr/>
        </p:nvSpPr>
        <p:spPr>
          <a:xfrm>
            <a:off x="707760" y="6629760"/>
            <a:ext cx="3863520" cy="227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ea typeface="DejaVu Sans"/>
              </a:rPr>
              <a:t>&lt;footer&gt;</a:t>
            </a:r>
            <a:endParaRPr b="0" lang="en-US" sz="1400" strike="noStrike" u="none">
              <a:solidFill>
                <a:srgbClr val="000000"/>
              </a:solidFill>
              <a:effectLst/>
              <a:uFillTx/>
              <a:latin typeface="Arial"/>
            </a:endParaRPr>
          </a:p>
        </p:txBody>
      </p:sp>
      <p:sp>
        <p:nvSpPr>
          <p:cNvPr id="15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3"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4"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5" name="PlaceHolder 5"/>
          <p:cNvSpPr>
            <a:spLocks noGrp="1"/>
          </p:cNvSpPr>
          <p:nvPr>
            <p:ph type="sldNum" idx="3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0E81A7D-92C5-44FE-9072-C6886A76140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Google Shape;70;p16"/>
          <p:cNvSpPr/>
          <p:nvPr/>
        </p:nvSpPr>
        <p:spPr>
          <a:xfrm>
            <a:off x="862560" y="478080"/>
            <a:ext cx="8548200" cy="1014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1" lang="en-US" sz="6000" strike="noStrike" u="none">
                <a:solidFill>
                  <a:srgbClr val="980714"/>
                </a:solidFill>
                <a:effectLst/>
                <a:uFillTx/>
                <a:latin typeface="Calibri"/>
                <a:ea typeface="Calibri"/>
              </a:rPr>
              <a:t>K8s: Advanced Resources</a:t>
            </a:r>
            <a:endParaRPr b="0" lang="en-US" sz="6000" strike="noStrike" u="none">
              <a:solidFill>
                <a:srgbClr val="980714"/>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164"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1" lang="en-US" sz="3000" strike="noStrike" u="none">
                <a:solidFill>
                  <a:srgbClr val="888888"/>
                </a:solidFill>
                <a:effectLst/>
                <a:uFillTx/>
                <a:latin typeface="Helvetica Neue"/>
                <a:ea typeface="Helvetica Neue"/>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StatefulSet</a:t>
            </a:r>
            <a:endParaRPr b="0" lang="en-US" sz="3000" strike="noStrike" u="none">
              <a:solidFill>
                <a:srgbClr val="000000"/>
              </a:solidFill>
              <a:effectLst/>
              <a:uFillTx/>
              <a:latin typeface="Arial"/>
            </a:endParaRPr>
          </a:p>
        </p:txBody>
      </p:sp>
      <p:sp>
        <p:nvSpPr>
          <p:cNvPr id="165" name="PlaceHolder 3"/>
          <p:cNvSpPr>
            <a:spLocks noGrp="1"/>
          </p:cNvSpPr>
          <p:nvPr>
            <p:ph type="sldNum" idx="4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0D609BD-58E1-498F-B920-75EB9BC70CA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66"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Resource Limits</a:t>
            </a:r>
            <a:endParaRPr b="0" lang="en-US" sz="3200" strike="noStrike" u="none">
              <a:solidFill>
                <a:srgbClr val="000000"/>
              </a:solidFill>
              <a:effectLst/>
              <a:uFillTx/>
              <a:latin typeface="Arial"/>
            </a:endParaRPr>
          </a:p>
        </p:txBody>
      </p:sp>
      <p:sp>
        <p:nvSpPr>
          <p:cNvPr id="168" name="PlaceHolder 2"/>
          <p:cNvSpPr>
            <a:spLocks noGrp="1"/>
          </p:cNvSpPr>
          <p:nvPr>
            <p:ph type="sldNum" idx="4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A40FC4F-08D7-4172-9A25-61E995B1BFA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69" name="Google Shape;87;p18"/>
          <p:cNvSpPr/>
          <p:nvPr/>
        </p:nvSpPr>
        <p:spPr>
          <a:xfrm>
            <a:off x="798120" y="1373400"/>
            <a:ext cx="8084160" cy="497016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Pod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resources:</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limits:</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memory: "128M"</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cpu: "500m"  # 50ms cpu time/100ms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Resource Requests (Minimums)</a:t>
            </a:r>
            <a:endParaRPr b="0" lang="en-US" sz="3200" strike="noStrike" u="none">
              <a:solidFill>
                <a:srgbClr val="000000"/>
              </a:solidFill>
              <a:effectLst/>
              <a:uFillTx/>
              <a:latin typeface="Arial"/>
            </a:endParaRPr>
          </a:p>
        </p:txBody>
      </p:sp>
      <p:sp>
        <p:nvSpPr>
          <p:cNvPr id="171" name="PlaceHolder 2"/>
          <p:cNvSpPr>
            <a:spLocks noGrp="1"/>
          </p:cNvSpPr>
          <p:nvPr>
            <p:ph type="sldNum" idx="4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CB35349-52EB-4CAC-9699-5A60958DD58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72" name="Google Shape;95;p19"/>
          <p:cNvSpPr/>
          <p:nvPr/>
        </p:nvSpPr>
        <p:spPr>
          <a:xfrm>
            <a:off x="798120" y="1373400"/>
            <a:ext cx="5929560" cy="497016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Pod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resources:</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requests:</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memory: "64M"</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cpu: "100m"</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174"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a:buChar char="●"/>
              <a:tabLst>
                <a:tab algn="l" pos="0"/>
              </a:tabLst>
            </a:pPr>
            <a:r>
              <a:rPr b="1" lang="en-US" sz="3000" strike="noStrike" u="none">
                <a:solidFill>
                  <a:srgbClr val="888888"/>
                </a:solidFill>
                <a:effectLst/>
                <a:uFillTx/>
                <a:latin typeface="Helvetica Neue"/>
                <a:ea typeface="Helvetica Neue"/>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StatefulSet</a:t>
            </a:r>
            <a:endParaRPr b="0" lang="en-US" sz="3000" strike="noStrike" u="none">
              <a:solidFill>
                <a:srgbClr val="000000"/>
              </a:solidFill>
              <a:effectLst/>
              <a:uFillTx/>
              <a:latin typeface="Arial"/>
            </a:endParaRPr>
          </a:p>
        </p:txBody>
      </p:sp>
      <p:sp>
        <p:nvSpPr>
          <p:cNvPr id="175" name="PlaceHolder 3"/>
          <p:cNvSpPr>
            <a:spLocks noGrp="1"/>
          </p:cNvSpPr>
          <p:nvPr>
            <p:ph type="sldNum" idx="43"/>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CDC49CE-8D8D-4029-9479-F02F622D447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76"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7" name="Google Shape;110;p21"/>
          <p:cNvGrpSpPr/>
          <p:nvPr/>
        </p:nvGrpSpPr>
        <p:grpSpPr>
          <a:xfrm>
            <a:off x="1298520" y="3936600"/>
            <a:ext cx="2630520" cy="1174320"/>
            <a:chOff x="1298520" y="3936600"/>
            <a:chExt cx="2630520" cy="1174320"/>
          </a:xfrm>
        </p:grpSpPr>
        <p:sp>
          <p:nvSpPr>
            <p:cNvPr id="178" name="Google Shape;111;p21"/>
            <p:cNvSpPr/>
            <p:nvPr/>
          </p:nvSpPr>
          <p:spPr>
            <a:xfrm>
              <a:off x="1374840" y="401256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9" name="Google Shape;112;p21"/>
            <p:cNvSpPr/>
            <p:nvPr/>
          </p:nvSpPr>
          <p:spPr>
            <a:xfrm>
              <a:off x="1298520" y="393660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hd</a:t>
              </a:r>
              <a:endParaRPr b="0" lang="en-US" sz="1400" strike="noStrike" u="none">
                <a:solidFill>
                  <a:srgbClr val="000000"/>
                </a:solidFill>
                <a:effectLst/>
                <a:uFillTx/>
                <a:latin typeface="Arial"/>
              </a:endParaRPr>
            </a:p>
          </p:txBody>
        </p:sp>
      </p:grpSp>
      <p:grpSp>
        <p:nvGrpSpPr>
          <p:cNvPr id="180" name="Google Shape;113;p21"/>
          <p:cNvGrpSpPr/>
          <p:nvPr/>
        </p:nvGrpSpPr>
        <p:grpSpPr>
          <a:xfrm>
            <a:off x="7304040" y="3936600"/>
            <a:ext cx="2630520" cy="1174320"/>
            <a:chOff x="7304040" y="3936600"/>
            <a:chExt cx="2630520" cy="1174320"/>
          </a:xfrm>
        </p:grpSpPr>
        <p:sp>
          <p:nvSpPr>
            <p:cNvPr id="181" name="Google Shape;114;p21"/>
            <p:cNvSpPr/>
            <p:nvPr/>
          </p:nvSpPr>
          <p:spPr>
            <a:xfrm>
              <a:off x="7380360" y="401256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2" name="Google Shape;115;p21"/>
            <p:cNvSpPr/>
            <p:nvPr/>
          </p:nvSpPr>
          <p:spPr>
            <a:xfrm>
              <a:off x="7304040" y="393660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static</a:t>
              </a:r>
              <a:endParaRPr b="0" lang="en-US" sz="1400" strike="noStrike" u="none">
                <a:solidFill>
                  <a:srgbClr val="000000"/>
                </a:solidFill>
                <a:effectLst/>
                <a:uFillTx/>
                <a:latin typeface="Arial"/>
              </a:endParaRPr>
            </a:p>
          </p:txBody>
        </p:sp>
      </p:grpSp>
      <p:grpSp>
        <p:nvGrpSpPr>
          <p:cNvPr id="183" name="Google Shape;116;p21"/>
          <p:cNvGrpSpPr/>
          <p:nvPr/>
        </p:nvGrpSpPr>
        <p:grpSpPr>
          <a:xfrm>
            <a:off x="4286520" y="1652760"/>
            <a:ext cx="2630160" cy="1174680"/>
            <a:chOff x="4286520" y="1652760"/>
            <a:chExt cx="2630160" cy="1174680"/>
          </a:xfrm>
        </p:grpSpPr>
        <p:sp>
          <p:nvSpPr>
            <p:cNvPr id="184" name="Google Shape;117;p21"/>
            <p:cNvSpPr/>
            <p:nvPr/>
          </p:nvSpPr>
          <p:spPr>
            <a:xfrm>
              <a:off x="4362480" y="172908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5" name="Google Shape;118;p21"/>
            <p:cNvSpPr/>
            <p:nvPr/>
          </p:nvSpPr>
          <p:spPr>
            <a:xfrm>
              <a:off x="4286520" y="1652760"/>
              <a:ext cx="2554200" cy="1098360"/>
            </a:xfrm>
            <a:prstGeom prst="roundRect">
              <a:avLst>
                <a:gd name="adj" fmla="val 16667"/>
              </a:avLst>
            </a:prstGeom>
            <a:solidFill>
              <a:srgbClr val="a2c4c9"/>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Ingress</a:t>
              </a:r>
              <a:endParaRPr b="0" lang="en-US" sz="18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foo.bar.com</a:t>
              </a:r>
              <a:endParaRPr b="0" lang="en-US" sz="1400" strike="noStrike" u="none">
                <a:solidFill>
                  <a:srgbClr val="000000"/>
                </a:solidFill>
                <a:effectLst/>
                <a:uFillTx/>
                <a:latin typeface="Arial"/>
              </a:endParaRPr>
            </a:p>
          </p:txBody>
        </p:sp>
      </p:grpSp>
      <p:sp>
        <p:nvSpPr>
          <p:cNvPr id="186"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Ingress</a:t>
            </a:r>
            <a:endParaRPr b="0" lang="en-US" sz="3200" strike="noStrike" u="none">
              <a:solidFill>
                <a:srgbClr val="000000"/>
              </a:solidFill>
              <a:effectLst/>
              <a:uFillTx/>
              <a:latin typeface="Arial"/>
            </a:endParaRPr>
          </a:p>
        </p:txBody>
      </p:sp>
      <p:sp>
        <p:nvSpPr>
          <p:cNvPr id="187" name="PlaceHolder 2"/>
          <p:cNvSpPr>
            <a:spLocks noGrp="1"/>
          </p:cNvSpPr>
          <p:nvPr>
            <p:ph type="sldNum" idx="4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6AC200D-90A7-436F-A986-7B501C4EFA1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88" name="Google Shape;121;p21"/>
          <p:cNvSpPr/>
          <p:nvPr/>
        </p:nvSpPr>
        <p:spPr>
          <a:xfrm flipH="1">
            <a:off x="2575440" y="2752200"/>
            <a:ext cx="2986560" cy="1182960"/>
          </a:xfrm>
          <a:custGeom>
            <a:avLst/>
            <a:gdLst>
              <a:gd name="textAreaLeft" fmla="*/ 360 w 2986560"/>
              <a:gd name="textAreaRight" fmla="*/ 2987280 w 2986560"/>
              <a:gd name="textAreaTop" fmla="*/ 0 h 1182960"/>
              <a:gd name="textAreaBottom" fmla="*/ 1183320 h 11829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9" name="Google Shape;122;p21"/>
          <p:cNvSpPr/>
          <p:nvPr/>
        </p:nvSpPr>
        <p:spPr>
          <a:xfrm>
            <a:off x="2396880" y="2916000"/>
            <a:ext cx="1531800" cy="4248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400" strike="noStrike" u="none">
                <a:solidFill>
                  <a:srgbClr val="000000"/>
                </a:solidFill>
                <a:effectLst/>
                <a:uFillTx/>
                <a:latin typeface="Helvetica Neue"/>
                <a:ea typeface="Helvetica Neue"/>
              </a:rPr>
              <a:t>foo.bar.com/hd</a:t>
            </a:r>
            <a:endParaRPr b="0" lang="en-US" sz="1400" strike="noStrike" u="none">
              <a:solidFill>
                <a:srgbClr val="000000"/>
              </a:solidFill>
              <a:effectLst/>
              <a:uFillTx/>
              <a:latin typeface="Arial"/>
            </a:endParaRPr>
          </a:p>
        </p:txBody>
      </p:sp>
      <p:sp>
        <p:nvSpPr>
          <p:cNvPr id="190" name="Google Shape;123;p21"/>
          <p:cNvSpPr/>
          <p:nvPr/>
        </p:nvSpPr>
        <p:spPr>
          <a:xfrm>
            <a:off x="7304040" y="2894400"/>
            <a:ext cx="1751400" cy="467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400" strike="noStrike" u="none">
                <a:solidFill>
                  <a:srgbClr val="000000"/>
                </a:solidFill>
                <a:effectLst/>
                <a:uFillTx/>
                <a:latin typeface="Helvetica Neue"/>
                <a:ea typeface="Helvetica Neue"/>
              </a:rPr>
              <a:t>foo.bar.com/static</a:t>
            </a:r>
            <a:endParaRPr b="0" lang="en-US" sz="1400" strike="noStrike" u="none">
              <a:solidFill>
                <a:srgbClr val="000000"/>
              </a:solidFill>
              <a:effectLst/>
              <a:uFillTx/>
              <a:latin typeface="Arial"/>
            </a:endParaRPr>
          </a:p>
        </p:txBody>
      </p:sp>
      <p:sp>
        <p:nvSpPr>
          <p:cNvPr id="191" name="Google Shape;124;p21"/>
          <p:cNvSpPr/>
          <p:nvPr/>
        </p:nvSpPr>
        <p:spPr>
          <a:xfrm>
            <a:off x="5563800" y="2752200"/>
            <a:ext cx="3016800" cy="1182960"/>
          </a:xfrm>
          <a:custGeom>
            <a:avLst/>
            <a:gdLst>
              <a:gd name="textAreaLeft" fmla="*/ 0 w 3016800"/>
              <a:gd name="textAreaRight" fmla="*/ 3017160 w 3016800"/>
              <a:gd name="textAreaTop" fmla="*/ 0 h 1182960"/>
              <a:gd name="textAreaBottom" fmla="*/ 1183320 h 11829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Ingress Spec</a:t>
            </a:r>
            <a:endParaRPr b="0" lang="en-US" sz="3200" strike="noStrike" u="none">
              <a:solidFill>
                <a:srgbClr val="000000"/>
              </a:solidFill>
              <a:effectLst/>
              <a:uFillTx/>
              <a:latin typeface="Arial"/>
            </a:endParaRPr>
          </a:p>
        </p:txBody>
      </p:sp>
      <p:sp>
        <p:nvSpPr>
          <p:cNvPr id="193" name="PlaceHolder 2"/>
          <p:cNvSpPr>
            <a:spLocks noGrp="1"/>
          </p:cNvSpPr>
          <p:nvPr>
            <p:ph type="sldNum" idx="4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C147840-E1F7-4B66-9625-B145170035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94" name="Google Shape;132;p22"/>
          <p:cNvSpPr/>
          <p:nvPr/>
        </p:nvSpPr>
        <p:spPr>
          <a:xfrm>
            <a:off x="460440" y="1275840"/>
            <a:ext cx="6058800" cy="5195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rules: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host: foo.bar.com</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http: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paths: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path: /hd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backend: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serviceName: hd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servicePort: 4200</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path: /static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backend: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serviceName: static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servicePort: 8080</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grpSp>
        <p:nvGrpSpPr>
          <p:cNvPr id="195" name="Google Shape;133;p22"/>
          <p:cNvGrpSpPr/>
          <p:nvPr/>
        </p:nvGrpSpPr>
        <p:grpSpPr>
          <a:xfrm>
            <a:off x="6736320" y="4294440"/>
            <a:ext cx="2230200" cy="996120"/>
            <a:chOff x="6736320" y="4294440"/>
            <a:chExt cx="2230200" cy="996120"/>
          </a:xfrm>
        </p:grpSpPr>
        <p:sp>
          <p:nvSpPr>
            <p:cNvPr id="196" name="Google Shape;134;p22"/>
            <p:cNvSpPr/>
            <p:nvPr/>
          </p:nvSpPr>
          <p:spPr>
            <a:xfrm>
              <a:off x="6800760" y="4359240"/>
              <a:ext cx="2165760" cy="93132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7" name="Google Shape;135;p22"/>
            <p:cNvSpPr/>
            <p:nvPr/>
          </p:nvSpPr>
          <p:spPr>
            <a:xfrm>
              <a:off x="6736320" y="4294440"/>
              <a:ext cx="2165760" cy="93132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hd</a:t>
              </a:r>
              <a:endParaRPr b="0" lang="en-US" sz="1400" strike="noStrike" u="none">
                <a:solidFill>
                  <a:srgbClr val="000000"/>
                </a:solidFill>
                <a:effectLst/>
                <a:uFillTx/>
                <a:latin typeface="Arial"/>
              </a:endParaRPr>
            </a:p>
          </p:txBody>
        </p:sp>
      </p:grpSp>
      <p:grpSp>
        <p:nvGrpSpPr>
          <p:cNvPr id="198" name="Google Shape;136;p22"/>
          <p:cNvGrpSpPr/>
          <p:nvPr/>
        </p:nvGrpSpPr>
        <p:grpSpPr>
          <a:xfrm>
            <a:off x="9790560" y="4206960"/>
            <a:ext cx="2230200" cy="996120"/>
            <a:chOff x="9790560" y="4206960"/>
            <a:chExt cx="2230200" cy="996120"/>
          </a:xfrm>
        </p:grpSpPr>
        <p:sp>
          <p:nvSpPr>
            <p:cNvPr id="199" name="Google Shape;137;p22"/>
            <p:cNvSpPr/>
            <p:nvPr/>
          </p:nvSpPr>
          <p:spPr>
            <a:xfrm>
              <a:off x="9855000" y="4271760"/>
              <a:ext cx="2165760" cy="93132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0" name="Google Shape;138;p22"/>
            <p:cNvSpPr/>
            <p:nvPr/>
          </p:nvSpPr>
          <p:spPr>
            <a:xfrm>
              <a:off x="9790560" y="4206960"/>
              <a:ext cx="2165760" cy="93132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static</a:t>
              </a:r>
              <a:endParaRPr b="0" lang="en-US" sz="1400" strike="noStrike" u="none">
                <a:solidFill>
                  <a:srgbClr val="000000"/>
                </a:solidFill>
                <a:effectLst/>
                <a:uFillTx/>
                <a:latin typeface="Arial"/>
              </a:endParaRPr>
            </a:p>
          </p:txBody>
        </p:sp>
      </p:grpSp>
      <p:grpSp>
        <p:nvGrpSpPr>
          <p:cNvPr id="201" name="Google Shape;139;p22"/>
          <p:cNvGrpSpPr/>
          <p:nvPr/>
        </p:nvGrpSpPr>
        <p:grpSpPr>
          <a:xfrm>
            <a:off x="8075160" y="2220480"/>
            <a:ext cx="2230560" cy="996120"/>
            <a:chOff x="8075160" y="2220480"/>
            <a:chExt cx="2230560" cy="996120"/>
          </a:xfrm>
        </p:grpSpPr>
        <p:sp>
          <p:nvSpPr>
            <p:cNvPr id="202" name="Google Shape;140;p22"/>
            <p:cNvSpPr/>
            <p:nvPr/>
          </p:nvSpPr>
          <p:spPr>
            <a:xfrm>
              <a:off x="8139960" y="2285280"/>
              <a:ext cx="2165760" cy="93132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3" name="Google Shape;141;p22"/>
            <p:cNvSpPr/>
            <p:nvPr/>
          </p:nvSpPr>
          <p:spPr>
            <a:xfrm>
              <a:off x="8075160" y="2220480"/>
              <a:ext cx="2165760" cy="931320"/>
            </a:xfrm>
            <a:prstGeom prst="roundRect">
              <a:avLst>
                <a:gd name="adj" fmla="val 16667"/>
              </a:avLst>
            </a:prstGeom>
            <a:solidFill>
              <a:srgbClr val="a2c4c9"/>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Ingress</a:t>
              </a:r>
              <a:endParaRPr b="0" lang="en-US" sz="18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foo.bar.com</a:t>
              </a:r>
              <a:endParaRPr b="0" lang="en-US" sz="1400" strike="noStrike" u="none">
                <a:solidFill>
                  <a:srgbClr val="000000"/>
                </a:solidFill>
                <a:effectLst/>
                <a:uFillTx/>
                <a:latin typeface="Arial"/>
              </a:endParaRPr>
            </a:p>
          </p:txBody>
        </p:sp>
      </p:grpSp>
      <p:sp>
        <p:nvSpPr>
          <p:cNvPr id="204" name="Google Shape;142;p22"/>
          <p:cNvSpPr/>
          <p:nvPr/>
        </p:nvSpPr>
        <p:spPr>
          <a:xfrm flipH="1">
            <a:off x="7602840" y="3152880"/>
            <a:ext cx="1553760" cy="1140480"/>
          </a:xfrm>
          <a:custGeom>
            <a:avLst/>
            <a:gdLst>
              <a:gd name="textAreaLeft" fmla="*/ 360 w 1553760"/>
              <a:gd name="textAreaRight" fmla="*/ 1554480 w 1553760"/>
              <a:gd name="textAreaTop" fmla="*/ 0 h 1140480"/>
              <a:gd name="textAreaBottom" fmla="*/ 1140840 h 114048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5" name="Google Shape;143;p22"/>
          <p:cNvSpPr/>
          <p:nvPr/>
        </p:nvSpPr>
        <p:spPr>
          <a:xfrm>
            <a:off x="6946200" y="3321000"/>
            <a:ext cx="1804320" cy="360000"/>
          </a:xfrm>
          <a:prstGeom prst="rect">
            <a:avLst/>
          </a:prstGeom>
          <a:noFill/>
          <a:ln w="0">
            <a:noFill/>
          </a:ln>
        </p:spPr>
        <p:style>
          <a:lnRef idx="0"/>
          <a:fillRef idx="0"/>
          <a:effectRef idx="0"/>
          <a:fontRef idx="minor"/>
        </p:style>
        <p:txBody>
          <a:bodyPr lIns="90000" rIns="90000" tIns="180000" bIns="180000" anchor="t">
            <a:noAutofit/>
          </a:bodyPr>
          <a:p>
            <a:pPr>
              <a:lnSpc>
                <a:spcPct val="100000"/>
              </a:lnSpc>
              <a:tabLst>
                <a:tab algn="l" pos="0"/>
              </a:tabLst>
            </a:pPr>
            <a:r>
              <a:rPr b="1" lang="en-US" sz="1400" strike="noStrike" u="none">
                <a:solidFill>
                  <a:srgbClr val="000000"/>
                </a:solidFill>
                <a:effectLst/>
                <a:uFillTx/>
                <a:latin typeface="Helvetica Neue"/>
                <a:ea typeface="Helvetica Neue"/>
              </a:rPr>
              <a:t>foo.bar.com/hd</a:t>
            </a:r>
            <a:endParaRPr b="0" lang="en-US" sz="1400" strike="noStrike" u="none">
              <a:solidFill>
                <a:srgbClr val="000000"/>
              </a:solidFill>
              <a:effectLst/>
              <a:uFillTx/>
              <a:latin typeface="Arial"/>
            </a:endParaRPr>
          </a:p>
        </p:txBody>
      </p:sp>
      <p:sp>
        <p:nvSpPr>
          <p:cNvPr id="206" name="Google Shape;144;p22"/>
          <p:cNvSpPr/>
          <p:nvPr/>
        </p:nvSpPr>
        <p:spPr>
          <a:xfrm>
            <a:off x="9934560" y="3323520"/>
            <a:ext cx="2230200" cy="3960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400" strike="noStrike" u="none">
                <a:solidFill>
                  <a:srgbClr val="000000"/>
                </a:solidFill>
                <a:effectLst/>
                <a:uFillTx/>
                <a:latin typeface="Helvetica Neue"/>
                <a:ea typeface="Helvetica Neue"/>
              </a:rPr>
              <a:t>foo.bar.com/static</a:t>
            </a:r>
            <a:endParaRPr b="0" lang="en-US" sz="1400" strike="noStrike" u="none">
              <a:solidFill>
                <a:srgbClr val="000000"/>
              </a:solidFill>
              <a:effectLst/>
              <a:uFillTx/>
              <a:latin typeface="Arial"/>
            </a:endParaRPr>
          </a:p>
        </p:txBody>
      </p:sp>
      <p:sp>
        <p:nvSpPr>
          <p:cNvPr id="207" name="Google Shape;145;p22"/>
          <p:cNvSpPr/>
          <p:nvPr/>
        </p:nvSpPr>
        <p:spPr>
          <a:xfrm>
            <a:off x="9158760" y="3152880"/>
            <a:ext cx="1714320" cy="1053000"/>
          </a:xfrm>
          <a:custGeom>
            <a:avLst/>
            <a:gdLst>
              <a:gd name="textAreaLeft" fmla="*/ 0 w 1714320"/>
              <a:gd name="textAreaRight" fmla="*/ 1714680 w 1714320"/>
              <a:gd name="textAreaTop" fmla="*/ 0 h 1053000"/>
              <a:gd name="textAreaBottom" fmla="*/ 1053360 h 10530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209"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a:buChar char="●"/>
              <a:tabLst>
                <a:tab algn="l" pos="0"/>
              </a:tabLst>
            </a:pPr>
            <a:r>
              <a:rPr b="1" lang="en-US" sz="3000" strike="noStrike" u="none">
                <a:solidFill>
                  <a:srgbClr val="888888"/>
                </a:solidFill>
                <a:effectLst/>
                <a:uFillTx/>
                <a:latin typeface="Helvetica Neue"/>
                <a:ea typeface="Helvetica Neue"/>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StatefulSet</a:t>
            </a:r>
            <a:endParaRPr b="0" lang="en-US" sz="3000" strike="noStrike" u="none">
              <a:solidFill>
                <a:srgbClr val="000000"/>
              </a:solidFill>
              <a:effectLst/>
              <a:uFillTx/>
              <a:latin typeface="Arial"/>
            </a:endParaRPr>
          </a:p>
        </p:txBody>
      </p:sp>
      <p:sp>
        <p:nvSpPr>
          <p:cNvPr id="210" name="PlaceHolder 3"/>
          <p:cNvSpPr>
            <a:spLocks noGrp="1"/>
          </p:cNvSpPr>
          <p:nvPr>
            <p:ph type="sldNum" idx="4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AFE420B-9C5E-4720-A771-F199588ACF3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11"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2" name="Google Shape;160;p24"/>
          <p:cNvGrpSpPr/>
          <p:nvPr/>
        </p:nvGrpSpPr>
        <p:grpSpPr>
          <a:xfrm>
            <a:off x="1730520" y="3270960"/>
            <a:ext cx="2630520" cy="1174680"/>
            <a:chOff x="1730520" y="3270960"/>
            <a:chExt cx="2630520" cy="1174680"/>
          </a:xfrm>
        </p:grpSpPr>
        <p:sp>
          <p:nvSpPr>
            <p:cNvPr id="213" name="Google Shape;161;p24"/>
            <p:cNvSpPr/>
            <p:nvPr/>
          </p:nvSpPr>
          <p:spPr>
            <a:xfrm>
              <a:off x="1806840" y="334728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4" name="Google Shape;162;p24"/>
            <p:cNvSpPr/>
            <p:nvPr/>
          </p:nvSpPr>
          <p:spPr>
            <a:xfrm>
              <a:off x="1730520" y="327096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DaemonSet</a:t>
              </a:r>
              <a:endParaRPr b="0" lang="en-US" sz="1800" strike="noStrike" u="none">
                <a:solidFill>
                  <a:srgbClr val="000000"/>
                </a:solidFill>
                <a:effectLst/>
                <a:uFillTx/>
                <a:latin typeface="Arial"/>
              </a:endParaRPr>
            </a:p>
          </p:txBody>
        </p:sp>
      </p:grpSp>
      <p:sp>
        <p:nvSpPr>
          <p:cNvPr id="215"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DaemonSet (Controller)</a:t>
            </a:r>
            <a:endParaRPr b="0" lang="en-US" sz="3200" strike="noStrike" u="none">
              <a:solidFill>
                <a:srgbClr val="000000"/>
              </a:solidFill>
              <a:effectLst/>
              <a:uFillTx/>
              <a:latin typeface="Arial"/>
            </a:endParaRPr>
          </a:p>
        </p:txBody>
      </p:sp>
      <p:sp>
        <p:nvSpPr>
          <p:cNvPr id="216" name="PlaceHolder 2"/>
          <p:cNvSpPr>
            <a:spLocks noGrp="1"/>
          </p:cNvSpPr>
          <p:nvPr>
            <p:ph type="sldNum" idx="47"/>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B08C7A4-3627-4BF5-8128-551DC678FCF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17" name="Google Shape;165;p24"/>
          <p:cNvGrpSpPr/>
          <p:nvPr/>
        </p:nvGrpSpPr>
        <p:grpSpPr>
          <a:xfrm>
            <a:off x="7917840" y="3173040"/>
            <a:ext cx="2348640" cy="1370520"/>
            <a:chOff x="7917840" y="3173040"/>
            <a:chExt cx="2348640" cy="1370520"/>
          </a:xfrm>
        </p:grpSpPr>
        <p:sp>
          <p:nvSpPr>
            <p:cNvPr id="218" name="Google Shape;166;p24"/>
            <p:cNvSpPr/>
            <p:nvPr/>
          </p:nvSpPr>
          <p:spPr>
            <a:xfrm>
              <a:off x="7994160" y="32536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219" name="Google Shape;167;p24"/>
            <p:cNvSpPr/>
            <p:nvPr/>
          </p:nvSpPr>
          <p:spPr>
            <a:xfrm>
              <a:off x="7917840" y="3173040"/>
              <a:ext cx="2272320" cy="128988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20" name="Google Shape;168;p24"/>
          <p:cNvGrpSpPr/>
          <p:nvPr/>
        </p:nvGrpSpPr>
        <p:grpSpPr>
          <a:xfrm>
            <a:off x="7917840" y="4680000"/>
            <a:ext cx="2348640" cy="1370520"/>
            <a:chOff x="7917840" y="4680000"/>
            <a:chExt cx="2348640" cy="1370520"/>
          </a:xfrm>
        </p:grpSpPr>
        <p:sp>
          <p:nvSpPr>
            <p:cNvPr id="221" name="Google Shape;169;p24"/>
            <p:cNvSpPr/>
            <p:nvPr/>
          </p:nvSpPr>
          <p:spPr>
            <a:xfrm>
              <a:off x="7994160" y="476064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222" name="Google Shape;170;p24"/>
            <p:cNvSpPr/>
            <p:nvPr/>
          </p:nvSpPr>
          <p:spPr>
            <a:xfrm>
              <a:off x="7917840" y="4680000"/>
              <a:ext cx="2272320" cy="128988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223" name="Google Shape;171;p24"/>
          <p:cNvSpPr/>
          <p:nvPr/>
        </p:nvSpPr>
        <p:spPr>
          <a:xfrm>
            <a:off x="7994160" y="17470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sp>
        <p:nvSpPr>
          <p:cNvPr id="224" name="Google Shape;172;p24"/>
          <p:cNvSpPr/>
          <p:nvPr/>
        </p:nvSpPr>
        <p:spPr>
          <a:xfrm>
            <a:off x="8088840" y="3297600"/>
            <a:ext cx="515880" cy="4806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225" name="Google Shape;173;p24"/>
          <p:cNvSpPr/>
          <p:nvPr/>
        </p:nvSpPr>
        <p:spPr>
          <a:xfrm>
            <a:off x="7917840" y="1666080"/>
            <a:ext cx="2272320" cy="128988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226" name="Google Shape;174;p24"/>
          <p:cNvSpPr/>
          <p:nvPr/>
        </p:nvSpPr>
        <p:spPr>
          <a:xfrm>
            <a:off x="8088840" y="1779480"/>
            <a:ext cx="515880" cy="4806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227" name="Google Shape;175;p24"/>
          <p:cNvSpPr/>
          <p:nvPr/>
        </p:nvSpPr>
        <p:spPr>
          <a:xfrm>
            <a:off x="8088840" y="4816080"/>
            <a:ext cx="515880" cy="4806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a:t>
            </a:r>
            <a:endParaRPr b="0" lang="en-US" sz="1000" strike="noStrike" u="none">
              <a:solidFill>
                <a:srgbClr val="000000"/>
              </a:solidFill>
              <a:effectLst/>
              <a:uFillTx/>
              <a:latin typeface="Arial"/>
            </a:endParaRPr>
          </a:p>
        </p:txBody>
      </p:sp>
      <p:sp>
        <p:nvSpPr>
          <p:cNvPr id="228" name="Google Shape;176;p24"/>
          <p:cNvSpPr/>
          <p:nvPr/>
        </p:nvSpPr>
        <p:spPr>
          <a:xfrm>
            <a:off x="4285800" y="3820680"/>
            <a:ext cx="3802320" cy="1234800"/>
          </a:xfrm>
          <a:custGeom>
            <a:avLst/>
            <a:gdLst>
              <a:gd name="textAreaLeft" fmla="*/ 0 w 3802320"/>
              <a:gd name="textAreaRight" fmla="*/ 3802680 w 3802320"/>
              <a:gd name="textAreaTop" fmla="*/ 0 h 1234800"/>
              <a:gd name="textAreaBottom" fmla="*/ 1235160 h 12348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220"/>
                                        </p:tgtEl>
                                        <p:attrNameLst>
                                          <p:attrName>style.visibility</p:attrName>
                                        </p:attrNameLst>
                                      </p:cBhvr>
                                      <p:to>
                                        <p:strVal val="visible"/>
                                      </p:to>
                                    </p:set>
                                    <p:animEffect filter="fade" transition="in">
                                      <p:cBhvr additive="repl">
                                        <p:cTn id="7" dur="1000"/>
                                        <p:tgtEl>
                                          <p:spTgt spid="220"/>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10">
                                  <p:stCondLst>
                                    <p:cond delay="0"/>
                                  </p:stCondLst>
                                  <p:childTnLst>
                                    <p:set>
                                      <p:cBhvr>
                                        <p:cTn id="11" dur="1" fill="hold">
                                          <p:stCondLst>
                                            <p:cond delay="0"/>
                                          </p:stCondLst>
                                        </p:cTn>
                                        <p:tgtEl>
                                          <p:spTgt spid="228"/>
                                        </p:tgtEl>
                                        <p:attrNameLst>
                                          <p:attrName>style.visibility</p:attrName>
                                        </p:attrNameLst>
                                      </p:cBhvr>
                                      <p:to>
                                        <p:strVal val="visible"/>
                                      </p:to>
                                    </p:set>
                                    <p:animEffect filter="fade" transition="in">
                                      <p:cBhvr additive="repl">
                                        <p:cTn id="12" dur="1000"/>
                                        <p:tgtEl>
                                          <p:spTgt spid="228"/>
                                        </p:tgtEl>
                                      </p:cBhvr>
                                    </p:animEffect>
                                  </p:childTnLst>
                                </p:cTn>
                              </p:par>
                              <p:par>
                                <p:cTn id="13" nodeType="withEffect" fill="hold" presetClass="entr" presetID="10">
                                  <p:stCondLst>
                                    <p:cond delay="0"/>
                                  </p:stCondLst>
                                  <p:childTnLst>
                                    <p:set>
                                      <p:cBhvr>
                                        <p:cTn id="14" dur="1" fill="hold">
                                          <p:stCondLst>
                                            <p:cond delay="0"/>
                                          </p:stCondLst>
                                        </p:cTn>
                                        <p:tgtEl>
                                          <p:spTgt spid="227"/>
                                        </p:tgtEl>
                                        <p:attrNameLst>
                                          <p:attrName>style.visibility</p:attrName>
                                        </p:attrNameLst>
                                      </p:cBhvr>
                                      <p:to>
                                        <p:strVal val="visible"/>
                                      </p:to>
                                    </p:set>
                                    <p:animEffect filter="fade" transition="in">
                                      <p:cBhvr additive="repl">
                                        <p:cTn id="15" dur="10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230"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a:buChar char="●"/>
              <a:tabLst>
                <a:tab algn="l" pos="0"/>
              </a:tabLst>
            </a:pPr>
            <a:r>
              <a:rPr b="1" lang="en-US" sz="3000" strike="noStrike" u="none">
                <a:solidFill>
                  <a:srgbClr val="888888"/>
                </a:solidFill>
                <a:effectLst/>
                <a:uFillTx/>
                <a:latin typeface="Helvetica Neue"/>
                <a:ea typeface="Helvetica Neue"/>
              </a:rPr>
              <a:t>StatefulSet</a:t>
            </a:r>
            <a:endParaRPr b="0" lang="en-US" sz="3000" strike="noStrike" u="none">
              <a:solidFill>
                <a:srgbClr val="000000"/>
              </a:solidFill>
              <a:effectLst/>
              <a:uFillTx/>
              <a:latin typeface="Arial"/>
            </a:endParaRPr>
          </a:p>
        </p:txBody>
      </p:sp>
      <p:sp>
        <p:nvSpPr>
          <p:cNvPr id="231" name="PlaceHolder 3"/>
          <p:cNvSpPr>
            <a:spLocks noGrp="1"/>
          </p:cNvSpPr>
          <p:nvPr>
            <p:ph type="sldNum" idx="4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757F3CD-CBFB-4672-B9A7-A4450EB6486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32"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Google Shape;191;p26"/>
          <p:cNvSpPr/>
          <p:nvPr/>
        </p:nvSpPr>
        <p:spPr>
          <a:xfrm>
            <a:off x="9798480" y="4102560"/>
            <a:ext cx="741600" cy="480600"/>
          </a:xfrm>
          <a:prstGeom prst="snip1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4" name="Google Shape;192;p26"/>
          <p:cNvSpPr/>
          <p:nvPr/>
        </p:nvSpPr>
        <p:spPr>
          <a:xfrm>
            <a:off x="8473680" y="4107600"/>
            <a:ext cx="741600" cy="480600"/>
          </a:xfrm>
          <a:prstGeom prst="snip1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5" name="Google Shape;193;p26"/>
          <p:cNvSpPr/>
          <p:nvPr/>
        </p:nvSpPr>
        <p:spPr>
          <a:xfrm>
            <a:off x="7149240" y="4102560"/>
            <a:ext cx="741600" cy="480600"/>
          </a:xfrm>
          <a:prstGeom prst="snip1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6" name="Google Shape;194;p26"/>
          <p:cNvSpPr/>
          <p:nvPr/>
        </p:nvSpPr>
        <p:spPr>
          <a:xfrm>
            <a:off x="6956640" y="5417640"/>
            <a:ext cx="833040" cy="480600"/>
          </a:xfrm>
          <a:prstGeom prst="flowChartMagneticDisk">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7" name="Google Shape;195;p26"/>
          <p:cNvSpPr/>
          <p:nvPr/>
        </p:nvSpPr>
        <p:spPr>
          <a:xfrm>
            <a:off x="9975960" y="5432760"/>
            <a:ext cx="833040" cy="480600"/>
          </a:xfrm>
          <a:prstGeom prst="flowChartMagneticDisk">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8" name="Google Shape;196;p26"/>
          <p:cNvSpPr/>
          <p:nvPr/>
        </p:nvSpPr>
        <p:spPr>
          <a:xfrm>
            <a:off x="8427960" y="5519160"/>
            <a:ext cx="833040" cy="480600"/>
          </a:xfrm>
          <a:prstGeom prst="flowChartMagneticDisk">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9"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StatefulSet (Controller)</a:t>
            </a:r>
            <a:endParaRPr b="0" lang="en-US" sz="3200" strike="noStrike" u="none">
              <a:solidFill>
                <a:srgbClr val="000000"/>
              </a:solidFill>
              <a:effectLst/>
              <a:uFillTx/>
              <a:latin typeface="Arial"/>
            </a:endParaRPr>
          </a:p>
        </p:txBody>
      </p:sp>
      <p:sp>
        <p:nvSpPr>
          <p:cNvPr id="240" name="PlaceHolder 2"/>
          <p:cNvSpPr>
            <a:spLocks noGrp="1"/>
          </p:cNvSpPr>
          <p:nvPr>
            <p:ph/>
          </p:nvPr>
        </p:nvSpPr>
        <p:spPr>
          <a:xfrm>
            <a:off x="828000" y="1528200"/>
            <a:ext cx="4996800" cy="467892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000000"/>
                </a:solidFill>
                <a:effectLst/>
                <a:uFillTx/>
                <a:latin typeface="Helvetica Neue Light"/>
                <a:ea typeface="Helvetica Neue Light"/>
              </a:rPr>
              <a:t>StatefulSets are like Deployments except they provide:</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Stable network id</a:t>
            </a:r>
            <a:endParaRPr b="0" lang="en-US" sz="2400" strike="noStrike" u="none">
              <a:solidFill>
                <a:srgbClr val="000000"/>
              </a:solidFill>
              <a:effectLst/>
              <a:uFillTx/>
              <a:latin typeface="Arial"/>
            </a:endParaRPr>
          </a:p>
          <a:p>
            <a:pPr marL="457200" indent="-380880">
              <a:lnSpc>
                <a:spcPct val="9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Stable storage</a:t>
            </a:r>
            <a:endParaRPr b="0" lang="en-US" sz="2400" strike="noStrike" u="none">
              <a:solidFill>
                <a:srgbClr val="000000"/>
              </a:solidFill>
              <a:effectLst/>
              <a:uFillTx/>
              <a:latin typeface="Arial"/>
            </a:endParaRPr>
          </a:p>
          <a:p>
            <a:pPr marL="457200" indent="-380880">
              <a:lnSpc>
                <a:spcPct val="9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Ordered, sequential deployment</a:t>
            </a:r>
            <a:endParaRPr b="0" lang="en-US" sz="2400" strike="noStrike" u="none">
              <a:solidFill>
                <a:srgbClr val="000000"/>
              </a:solidFill>
              <a:effectLst/>
              <a:uFillTx/>
              <a:latin typeface="Arial"/>
            </a:endParaRPr>
          </a:p>
        </p:txBody>
      </p:sp>
      <p:sp>
        <p:nvSpPr>
          <p:cNvPr id="241" name="PlaceHolder 3"/>
          <p:cNvSpPr>
            <a:spLocks noGrp="1"/>
          </p:cNvSpPr>
          <p:nvPr>
            <p:ph type="sldNum" idx="49"/>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89DA970-0C8A-430F-BCB4-EB500660BD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42" name="Google Shape;200;p26"/>
          <p:cNvSpPr/>
          <p:nvPr/>
        </p:nvSpPr>
        <p:spPr>
          <a:xfrm>
            <a:off x="7072920" y="4026240"/>
            <a:ext cx="741600" cy="4806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App-0</a:t>
            </a:r>
            <a:endParaRPr b="0" lang="en-US" sz="1000" strike="noStrike" u="none">
              <a:solidFill>
                <a:srgbClr val="000000"/>
              </a:solidFill>
              <a:effectLst/>
              <a:uFillTx/>
              <a:latin typeface="Arial"/>
            </a:endParaRPr>
          </a:p>
        </p:txBody>
      </p:sp>
      <p:sp>
        <p:nvSpPr>
          <p:cNvPr id="243" name="Google Shape;201;p26"/>
          <p:cNvSpPr/>
          <p:nvPr/>
        </p:nvSpPr>
        <p:spPr>
          <a:xfrm>
            <a:off x="9722520" y="4026240"/>
            <a:ext cx="741600" cy="4806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App-2</a:t>
            </a:r>
            <a:endParaRPr b="0" lang="en-US" sz="1000" strike="noStrike" u="none">
              <a:solidFill>
                <a:srgbClr val="000000"/>
              </a:solidFill>
              <a:effectLst/>
              <a:uFillTx/>
              <a:latin typeface="Arial"/>
            </a:endParaRPr>
          </a:p>
        </p:txBody>
      </p:sp>
      <p:sp>
        <p:nvSpPr>
          <p:cNvPr id="244" name="Google Shape;202;p26"/>
          <p:cNvSpPr/>
          <p:nvPr/>
        </p:nvSpPr>
        <p:spPr>
          <a:xfrm>
            <a:off x="6880320" y="5341320"/>
            <a:ext cx="833040" cy="480600"/>
          </a:xfrm>
          <a:prstGeom prst="flowChartMagneticDisk">
            <a:avLst/>
          </a:prstGeom>
          <a:solidFill>
            <a:schemeClr val="lt2"/>
          </a:solidFill>
          <a:ln w="9525">
            <a:solidFill>
              <a:srgbClr val="44546a"/>
            </a:solidFill>
            <a:round/>
          </a:ln>
        </p:spPr>
        <p:style>
          <a:lnRef idx="0"/>
          <a:fillRef idx="0"/>
          <a:effectRef idx="0"/>
          <a:fontRef idx="minor"/>
        </p:style>
        <p:txBody>
          <a:bodyPr lIns="90000" rIns="90000" tIns="120240" bIns="120240" anchor="ctr">
            <a:noAutofit/>
          </a:bodyPr>
          <a:p>
            <a:pPr>
              <a:lnSpc>
                <a:spcPct val="100000"/>
              </a:lnSpc>
              <a:tabLst>
                <a:tab algn="l" pos="0"/>
              </a:tabLst>
            </a:pPr>
            <a:r>
              <a:rPr b="0" lang="en-US" sz="1400" strike="noStrike" u="none">
                <a:solidFill>
                  <a:srgbClr val="000000"/>
                </a:solidFill>
                <a:effectLst/>
                <a:uFillTx/>
                <a:latin typeface="Arial"/>
                <a:ea typeface="Arial"/>
              </a:rPr>
              <a:t>PV-0</a:t>
            </a:r>
            <a:endParaRPr b="0" lang="en-US" sz="1400" strike="noStrike" u="none">
              <a:solidFill>
                <a:srgbClr val="000000"/>
              </a:solidFill>
              <a:effectLst/>
              <a:uFillTx/>
              <a:latin typeface="Arial"/>
            </a:endParaRPr>
          </a:p>
        </p:txBody>
      </p:sp>
      <p:sp>
        <p:nvSpPr>
          <p:cNvPr id="245" name="Google Shape;203;p26"/>
          <p:cNvSpPr/>
          <p:nvPr/>
        </p:nvSpPr>
        <p:spPr>
          <a:xfrm>
            <a:off x="8352000" y="5442840"/>
            <a:ext cx="833040" cy="480600"/>
          </a:xfrm>
          <a:prstGeom prst="flowChartMagneticDisk">
            <a:avLst/>
          </a:prstGeom>
          <a:solidFill>
            <a:schemeClr val="lt2"/>
          </a:solidFill>
          <a:ln w="9525">
            <a:solidFill>
              <a:srgbClr val="44546a"/>
            </a:solidFill>
            <a:round/>
          </a:ln>
        </p:spPr>
        <p:style>
          <a:lnRef idx="0"/>
          <a:fillRef idx="0"/>
          <a:effectRef idx="0"/>
          <a:fontRef idx="minor"/>
        </p:style>
        <p:txBody>
          <a:bodyPr lIns="90000" rIns="90000" tIns="120240" bIns="120240" anchor="ctr">
            <a:noAutofit/>
          </a:bodyPr>
          <a:p>
            <a:pPr>
              <a:lnSpc>
                <a:spcPct val="100000"/>
              </a:lnSpc>
              <a:tabLst>
                <a:tab algn="l" pos="0"/>
              </a:tabLst>
            </a:pPr>
            <a:r>
              <a:rPr b="0" lang="en-US" sz="1400" strike="noStrike" u="none">
                <a:solidFill>
                  <a:srgbClr val="000000"/>
                </a:solidFill>
                <a:effectLst/>
                <a:uFillTx/>
                <a:latin typeface="Arial"/>
                <a:ea typeface="Arial"/>
              </a:rPr>
              <a:t>PV-1</a:t>
            </a:r>
            <a:endParaRPr b="0" lang="en-US" sz="1400" strike="noStrike" u="none">
              <a:solidFill>
                <a:srgbClr val="000000"/>
              </a:solidFill>
              <a:effectLst/>
              <a:uFillTx/>
              <a:latin typeface="Arial"/>
            </a:endParaRPr>
          </a:p>
        </p:txBody>
      </p:sp>
      <p:sp>
        <p:nvSpPr>
          <p:cNvPr id="246" name="Google Shape;204;p26"/>
          <p:cNvSpPr/>
          <p:nvPr/>
        </p:nvSpPr>
        <p:spPr>
          <a:xfrm>
            <a:off x="9905040" y="5341320"/>
            <a:ext cx="833040" cy="480600"/>
          </a:xfrm>
          <a:prstGeom prst="flowChartMagneticDisk">
            <a:avLst/>
          </a:prstGeom>
          <a:solidFill>
            <a:schemeClr val="lt2"/>
          </a:solidFill>
          <a:ln w="9525">
            <a:solidFill>
              <a:srgbClr val="44546a"/>
            </a:solidFill>
            <a:round/>
          </a:ln>
        </p:spPr>
        <p:style>
          <a:lnRef idx="0"/>
          <a:fillRef idx="0"/>
          <a:effectRef idx="0"/>
          <a:fontRef idx="minor"/>
        </p:style>
        <p:txBody>
          <a:bodyPr lIns="90000" rIns="90000" tIns="120240" bIns="120240" anchor="ctr">
            <a:noAutofit/>
          </a:bodyPr>
          <a:p>
            <a:pPr>
              <a:lnSpc>
                <a:spcPct val="100000"/>
              </a:lnSpc>
              <a:tabLst>
                <a:tab algn="l" pos="0"/>
              </a:tabLst>
            </a:pPr>
            <a:r>
              <a:rPr b="0" lang="en-US" sz="1400" strike="noStrike" u="none">
                <a:solidFill>
                  <a:srgbClr val="000000"/>
                </a:solidFill>
                <a:effectLst/>
                <a:uFillTx/>
                <a:latin typeface="Arial"/>
                <a:ea typeface="Arial"/>
              </a:rPr>
              <a:t>PV-2</a:t>
            </a:r>
            <a:endParaRPr b="0" lang="en-US" sz="1400" strike="noStrike" u="none">
              <a:solidFill>
                <a:srgbClr val="000000"/>
              </a:solidFill>
              <a:effectLst/>
              <a:uFillTx/>
              <a:latin typeface="Arial"/>
            </a:endParaRPr>
          </a:p>
        </p:txBody>
      </p:sp>
      <p:sp>
        <p:nvSpPr>
          <p:cNvPr id="247" name="Google Shape;205;p26"/>
          <p:cNvSpPr/>
          <p:nvPr/>
        </p:nvSpPr>
        <p:spPr>
          <a:xfrm flipH="1">
            <a:off x="7296120" y="4507920"/>
            <a:ext cx="145800" cy="832680"/>
          </a:xfrm>
          <a:custGeom>
            <a:avLst/>
            <a:gdLst>
              <a:gd name="textAreaLeft" fmla="*/ -360 w 145800"/>
              <a:gd name="textAreaRight" fmla="*/ 145800 w 145800"/>
              <a:gd name="textAreaTop" fmla="*/ 0 h 832680"/>
              <a:gd name="textAreaBottom" fmla="*/ 833040 h 832680"/>
            </a:gdLst>
            <a:ahLst/>
            <a:cxnLst/>
            <a:rect l="textAreaLeft" t="textAreaTop" r="textAreaRight" b="textAreaBottom"/>
            <a:pathLst>
              <a:path w="21600" h="21600">
                <a:moveTo>
                  <a:pt x="0" y="0"/>
                </a:moveTo>
                <a:lnTo>
                  <a:pt x="21600" y="21600"/>
                </a:lnTo>
              </a:path>
            </a:pathLst>
          </a:custGeom>
          <a:no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48" name="Google Shape;206;p26"/>
          <p:cNvGrpSpPr/>
          <p:nvPr/>
        </p:nvGrpSpPr>
        <p:grpSpPr>
          <a:xfrm>
            <a:off x="8397720" y="4026240"/>
            <a:ext cx="741600" cy="1415880"/>
            <a:chOff x="8397720" y="4026240"/>
            <a:chExt cx="741600" cy="1415880"/>
          </a:xfrm>
        </p:grpSpPr>
        <p:sp>
          <p:nvSpPr>
            <p:cNvPr id="249" name="Google Shape;207;p26"/>
            <p:cNvSpPr/>
            <p:nvPr/>
          </p:nvSpPr>
          <p:spPr>
            <a:xfrm>
              <a:off x="8397720" y="4026240"/>
              <a:ext cx="741600" cy="4806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000" strike="noStrike" u="none">
                  <a:solidFill>
                    <a:srgbClr val="000000"/>
                  </a:solidFill>
                  <a:effectLst/>
                  <a:uFillTx/>
                  <a:latin typeface="Arial"/>
                  <a:ea typeface="Arial"/>
                </a:rPr>
                <a:t>App-1</a:t>
              </a:r>
              <a:endParaRPr b="0" lang="en-US" sz="1000" strike="noStrike" u="none">
                <a:solidFill>
                  <a:srgbClr val="000000"/>
                </a:solidFill>
                <a:effectLst/>
                <a:uFillTx/>
                <a:latin typeface="Arial"/>
              </a:endParaRPr>
            </a:p>
          </p:txBody>
        </p:sp>
        <p:sp>
          <p:nvSpPr>
            <p:cNvPr id="250" name="Google Shape;208;p26"/>
            <p:cNvSpPr/>
            <p:nvPr/>
          </p:nvSpPr>
          <p:spPr>
            <a:xfrm>
              <a:off x="8768880" y="4507920"/>
              <a:ext cx="360" cy="934200"/>
            </a:xfrm>
            <a:custGeom>
              <a:avLst/>
              <a:gdLst>
                <a:gd name="textAreaLeft" fmla="*/ 0 w 360"/>
                <a:gd name="textAreaRight" fmla="*/ 720 w 360"/>
                <a:gd name="textAreaTop" fmla="*/ 0 h 934200"/>
                <a:gd name="textAreaBottom" fmla="*/ 934560 h 934200"/>
              </a:gdLst>
              <a:ahLst/>
              <a:cxnLst/>
              <a:rect l="textAreaLeft" t="textAreaTop" r="textAreaRight" b="textAreaBottom"/>
              <a:pathLst>
                <a:path w="21600" h="21600">
                  <a:moveTo>
                    <a:pt x="0" y="0"/>
                  </a:moveTo>
                  <a:lnTo>
                    <a:pt x="21600" y="21600"/>
                  </a:lnTo>
                </a:path>
              </a:pathLst>
            </a:custGeom>
            <a:no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251" name="Google Shape;209;p26"/>
          <p:cNvSpPr/>
          <p:nvPr/>
        </p:nvSpPr>
        <p:spPr>
          <a:xfrm>
            <a:off x="10093680" y="4507920"/>
            <a:ext cx="227520" cy="832680"/>
          </a:xfrm>
          <a:custGeom>
            <a:avLst/>
            <a:gdLst>
              <a:gd name="textAreaLeft" fmla="*/ 0 w 227520"/>
              <a:gd name="textAreaRight" fmla="*/ 227880 w 227520"/>
              <a:gd name="textAreaTop" fmla="*/ 0 h 832680"/>
              <a:gd name="textAreaBottom" fmla="*/ 833040 h 832680"/>
            </a:gdLst>
            <a:ahLst/>
            <a:cxnLst/>
            <a:rect l="textAreaLeft" t="textAreaTop" r="textAreaRight" b="textAreaBottom"/>
            <a:pathLst>
              <a:path w="21600" h="21600">
                <a:moveTo>
                  <a:pt x="0" y="0"/>
                </a:moveTo>
                <a:lnTo>
                  <a:pt x="21600" y="21600"/>
                </a:lnTo>
              </a:path>
            </a:pathLst>
          </a:custGeom>
          <a:no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52" name="Google Shape;210;p26"/>
          <p:cNvGrpSpPr/>
          <p:nvPr/>
        </p:nvGrpSpPr>
        <p:grpSpPr>
          <a:xfrm>
            <a:off x="7453080" y="1925640"/>
            <a:ext cx="2630520" cy="1174680"/>
            <a:chOff x="7453080" y="1925640"/>
            <a:chExt cx="2630520" cy="1174680"/>
          </a:xfrm>
        </p:grpSpPr>
        <p:sp>
          <p:nvSpPr>
            <p:cNvPr id="253" name="Google Shape;211;p26"/>
            <p:cNvSpPr/>
            <p:nvPr/>
          </p:nvSpPr>
          <p:spPr>
            <a:xfrm>
              <a:off x="7529400" y="200196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4" name="Google Shape;212;p26"/>
            <p:cNvSpPr/>
            <p:nvPr/>
          </p:nvSpPr>
          <p:spPr>
            <a:xfrm>
              <a:off x="7453080" y="192564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StatefulSet</a:t>
              </a:r>
              <a:endParaRPr b="0" lang="en-US" sz="1800" strike="noStrike" u="none">
                <a:solidFill>
                  <a:srgbClr val="000000"/>
                </a:solidFill>
                <a:effectLst/>
                <a:uFillTx/>
                <a:latin typeface="Arial"/>
              </a:endParaRPr>
            </a:p>
          </p:txBody>
        </p:sp>
      </p:gr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6" dur="indefinite" restart="never" nodeType="tmRoot">
          <p:childTnLst>
            <p:seq>
              <p:cTn id="17" dur="indefinite" nodeType="mainSeq">
                <p:childTnLst>
                  <p:par>
                    <p:cTn id="18" fill="hold">
                      <p:stCondLst>
                        <p:cond delay="indefinite"/>
                      </p:stCondLst>
                      <p:childTnLst>
                        <p:par>
                          <p:cTn id="19" fill="hold">
                            <p:stCondLst>
                              <p:cond delay="0"/>
                            </p:stCondLst>
                            <p:childTnLst>
                              <p:par>
                                <p:cTn id="20" nodeType="clickEffect" fill="hold" presetClass="exit" presetID="10">
                                  <p:stCondLst>
                                    <p:cond delay="0"/>
                                  </p:stCondLst>
                                  <p:childTnLst>
                                    <p:animEffect filter="fade" transition="out">
                                      <p:cBhvr additive="repl">
                                        <p:cTn id="21" dur="1000"/>
                                        <p:tgtEl>
                                          <p:spTgt spid="248"/>
                                        </p:tgtEl>
                                      </p:cBhvr>
                                    </p:animEffect>
                                    <p:set>
                                      <p:cBhvr>
                                        <p:cTn id="22" dur="1" fill="hold">
                                          <p:stCondLst>
                                            <p:cond delay="1000"/>
                                          </p:stCondLst>
                                        </p:cTn>
                                        <p:tgtEl>
                                          <p:spTgt spid="24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0">
                                  <p:stCondLst>
                                    <p:cond delay="0"/>
                                  </p:stCondLst>
                                  <p:childTnLst>
                                    <p:set>
                                      <p:cBhvr>
                                        <p:cTn id="26" dur="1" fill="hold">
                                          <p:stCondLst>
                                            <p:cond delay="0"/>
                                          </p:stCondLst>
                                        </p:cTn>
                                        <p:tgtEl>
                                          <p:spTgt spid="248"/>
                                        </p:tgtEl>
                                        <p:attrNameLst>
                                          <p:attrName>style.visibility</p:attrName>
                                        </p:attrNameLst>
                                      </p:cBhvr>
                                      <p:to>
                                        <p:strVal val="visible"/>
                                      </p:to>
                                    </p:set>
                                    <p:animEffect filter="fade" transition="in">
                                      <p:cBhvr additive="repl">
                                        <p:cTn id="27"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256"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StatefulSet</a:t>
            </a:r>
            <a:endParaRPr b="0" lang="en-US" sz="3000" strike="noStrike" u="none">
              <a:solidFill>
                <a:srgbClr val="000000"/>
              </a:solidFill>
              <a:effectLst/>
              <a:uFillTx/>
              <a:latin typeface="Arial"/>
            </a:endParaRPr>
          </a:p>
        </p:txBody>
      </p:sp>
      <p:sp>
        <p:nvSpPr>
          <p:cNvPr id="257" name="PlaceHolder 3"/>
          <p:cNvSpPr>
            <a:spLocks noGrp="1"/>
          </p:cNvSpPr>
          <p:nvPr>
            <p:ph type="sldNum" idx="5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037A34A-2384-42E4-B998-5403870DD01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58"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a:buChar char="●"/>
            </a:pPr>
            <a:r>
              <a:rPr b="1" lang="en-US" sz="3000" strike="noStrike" u="none">
                <a:solidFill>
                  <a:srgbClr val="888888"/>
                </a:solidFill>
                <a:effectLst/>
                <a:uFillTx/>
                <a:latin typeface="Helvetica Neue"/>
                <a:ea typeface="Helvetica Neue"/>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Jobs (Controller)</a:t>
            </a:r>
            <a:endParaRPr b="0" lang="en-US" sz="3200" strike="noStrike" u="none">
              <a:solidFill>
                <a:srgbClr val="000000"/>
              </a:solidFill>
              <a:effectLst/>
              <a:uFillTx/>
              <a:latin typeface="Arial"/>
            </a:endParaRPr>
          </a:p>
        </p:txBody>
      </p:sp>
      <p:sp>
        <p:nvSpPr>
          <p:cNvPr id="260" name="PlaceHolder 2"/>
          <p:cNvSpPr>
            <a:spLocks noGrp="1"/>
          </p:cNvSpPr>
          <p:nvPr>
            <p:ph type="sldNum" idx="5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62D6E7A-2251-44E0-A50C-F11ADD7F3C7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61" name="Google Shape;229;p28"/>
          <p:cNvSpPr/>
          <p:nvPr/>
        </p:nvSpPr>
        <p:spPr>
          <a:xfrm>
            <a:off x="211680" y="1373400"/>
            <a:ext cx="6058800" cy="497016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batch/v1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Job</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db-backup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template: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db-backup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db-backup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command: ["make-backup]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restartPolicy: Never</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backoffLimit: 4</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grpSp>
        <p:nvGrpSpPr>
          <p:cNvPr id="262" name="Google Shape;230;p28"/>
          <p:cNvGrpSpPr/>
          <p:nvPr/>
        </p:nvGrpSpPr>
        <p:grpSpPr>
          <a:xfrm>
            <a:off x="7919640" y="2027880"/>
            <a:ext cx="2630160" cy="1174680"/>
            <a:chOff x="7919640" y="2027880"/>
            <a:chExt cx="2630160" cy="1174680"/>
          </a:xfrm>
        </p:grpSpPr>
        <p:sp>
          <p:nvSpPr>
            <p:cNvPr id="263" name="Google Shape;231;p28"/>
            <p:cNvSpPr/>
            <p:nvPr/>
          </p:nvSpPr>
          <p:spPr>
            <a:xfrm>
              <a:off x="7995600" y="210420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4" name="Google Shape;232;p28"/>
            <p:cNvSpPr/>
            <p:nvPr/>
          </p:nvSpPr>
          <p:spPr>
            <a:xfrm>
              <a:off x="7919640" y="202788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265" name="Google Shape;233;p28"/>
          <p:cNvGrpSpPr/>
          <p:nvPr/>
        </p:nvGrpSpPr>
        <p:grpSpPr>
          <a:xfrm>
            <a:off x="8170560" y="4204440"/>
            <a:ext cx="2128320" cy="1103760"/>
            <a:chOff x="8170560" y="4204440"/>
            <a:chExt cx="2128320" cy="1103760"/>
          </a:xfrm>
        </p:grpSpPr>
        <p:sp>
          <p:nvSpPr>
            <p:cNvPr id="266" name="Google Shape;234;p28"/>
            <p:cNvSpPr/>
            <p:nvPr/>
          </p:nvSpPr>
          <p:spPr>
            <a:xfrm>
              <a:off x="8246520" y="427644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67" name="Google Shape;235;p28"/>
            <p:cNvSpPr/>
            <p:nvPr/>
          </p:nvSpPr>
          <p:spPr>
            <a:xfrm>
              <a:off x="8170560" y="4204440"/>
              <a:ext cx="2052360" cy="103176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000000"/>
                </a:solidFill>
                <a:effectLst/>
                <a:uFillTx/>
                <a:latin typeface="Arial"/>
              </a:endParaRPr>
            </a:p>
          </p:txBody>
        </p:sp>
      </p:grpSp>
      <p:sp>
        <p:nvSpPr>
          <p:cNvPr id="268" name="Google Shape;236;p28"/>
          <p:cNvSpPr/>
          <p:nvPr/>
        </p:nvSpPr>
        <p:spPr>
          <a:xfrm>
            <a:off x="9196920" y="3127320"/>
            <a:ext cx="360" cy="1076040"/>
          </a:xfrm>
          <a:custGeom>
            <a:avLst/>
            <a:gdLst>
              <a:gd name="textAreaLeft" fmla="*/ 0 w 360"/>
              <a:gd name="textAreaRight" fmla="*/ 720 w 360"/>
              <a:gd name="textAreaTop" fmla="*/ 0 h 1076040"/>
              <a:gd name="textAreaBottom" fmla="*/ 1076400 h 10760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28" dur="indefinite" restart="never" nodeType="tmRoot">
          <p:childTnLst>
            <p:seq>
              <p:cTn id="29" dur="indefinite" nodeType="mainSeq">
                <p:childTnLst>
                  <p:par>
                    <p:cTn id="30" fill="hold">
                      <p:stCondLst>
                        <p:cond delay="indefinite"/>
                      </p:stCondLst>
                      <p:childTnLst>
                        <p:par>
                          <p:cTn id="31" fill="hold">
                            <p:stCondLst>
                              <p:cond delay="0"/>
                            </p:stCondLst>
                            <p:childTnLst>
                              <p:par>
                                <p:cTn id="32" nodeType="clickEffect" fill="hold" presetClass="entr" presetID="10">
                                  <p:stCondLst>
                                    <p:cond delay="0"/>
                                  </p:stCondLst>
                                  <p:childTnLst>
                                    <p:set>
                                      <p:cBhvr>
                                        <p:cTn id="33" dur="1" fill="hold">
                                          <p:stCondLst>
                                            <p:cond delay="0"/>
                                          </p:stCondLst>
                                        </p:cTn>
                                        <p:tgtEl>
                                          <p:spTgt spid="265"/>
                                        </p:tgtEl>
                                        <p:attrNameLst>
                                          <p:attrName>style.visibility</p:attrName>
                                        </p:attrNameLst>
                                      </p:cBhvr>
                                      <p:to>
                                        <p:strVal val="visible"/>
                                      </p:to>
                                    </p:set>
                                    <p:animEffect filter="fade" transition="in">
                                      <p:cBhvr additive="repl">
                                        <p:cTn id="34" dur="1000"/>
                                        <p:tgtEl>
                                          <p:spTgt spid="265"/>
                                        </p:tgtEl>
                                      </p:cBhvr>
                                    </p:animEffect>
                                  </p:childTnLst>
                                </p:cTn>
                              </p:par>
                              <p:par>
                                <p:cTn id="35" nodeType="withEffect" fill="hold" presetClass="entr" presetID="10">
                                  <p:stCondLst>
                                    <p:cond delay="0"/>
                                  </p:stCondLst>
                                  <p:childTnLst>
                                    <p:set>
                                      <p:cBhvr>
                                        <p:cTn id="36" dur="1" fill="hold">
                                          <p:stCondLst>
                                            <p:cond delay="0"/>
                                          </p:stCondLst>
                                        </p:cTn>
                                        <p:tgtEl>
                                          <p:spTgt spid="268"/>
                                        </p:tgtEl>
                                        <p:attrNameLst>
                                          <p:attrName>style.visibility</p:attrName>
                                        </p:attrNameLst>
                                      </p:cBhvr>
                                      <p:to>
                                        <p:strVal val="visible"/>
                                      </p:to>
                                    </p:set>
                                    <p:animEffect filter="fade" transition="in">
                                      <p:cBhvr additive="repl">
                                        <p:cTn id="37"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Jobs</a:t>
            </a:r>
            <a:endParaRPr b="0" lang="en-US" sz="3200" strike="noStrike" u="none">
              <a:solidFill>
                <a:srgbClr val="000000"/>
              </a:solidFill>
              <a:effectLst/>
              <a:uFillTx/>
              <a:latin typeface="Arial"/>
            </a:endParaRPr>
          </a:p>
        </p:txBody>
      </p:sp>
      <p:sp>
        <p:nvSpPr>
          <p:cNvPr id="270" name="PlaceHolder 2"/>
          <p:cNvSpPr>
            <a:spLocks noGrp="1"/>
          </p:cNvSpPr>
          <p:nvPr>
            <p:ph type="sldNum" idx="5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8BC6A0F-D875-4D0E-8159-61E1C4B4ED0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71" name="Google Shape;244;p29"/>
          <p:cNvGrpSpPr/>
          <p:nvPr/>
        </p:nvGrpSpPr>
        <p:grpSpPr>
          <a:xfrm>
            <a:off x="1452240" y="2171880"/>
            <a:ext cx="2630520" cy="1174680"/>
            <a:chOff x="1452240" y="2171880"/>
            <a:chExt cx="2630520" cy="1174680"/>
          </a:xfrm>
        </p:grpSpPr>
        <p:sp>
          <p:nvSpPr>
            <p:cNvPr id="272" name="Google Shape;245;p29"/>
            <p:cNvSpPr/>
            <p:nvPr/>
          </p:nvSpPr>
          <p:spPr>
            <a:xfrm>
              <a:off x="1528560" y="224820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3" name="Google Shape;246;p29"/>
            <p:cNvSpPr/>
            <p:nvPr/>
          </p:nvSpPr>
          <p:spPr>
            <a:xfrm>
              <a:off x="1452240" y="217188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274" name="Google Shape;247;p29"/>
          <p:cNvGrpSpPr/>
          <p:nvPr/>
        </p:nvGrpSpPr>
        <p:grpSpPr>
          <a:xfrm>
            <a:off x="8143560" y="2171880"/>
            <a:ext cx="2128320" cy="1103400"/>
            <a:chOff x="8143560" y="2171880"/>
            <a:chExt cx="2128320" cy="1103400"/>
          </a:xfrm>
        </p:grpSpPr>
        <p:sp>
          <p:nvSpPr>
            <p:cNvPr id="275" name="Google Shape;248;p29"/>
            <p:cNvSpPr/>
            <p:nvPr/>
          </p:nvSpPr>
          <p:spPr>
            <a:xfrm>
              <a:off x="8219520" y="224352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6" name="Google Shape;249;p29"/>
            <p:cNvSpPr/>
            <p:nvPr/>
          </p:nvSpPr>
          <p:spPr>
            <a:xfrm>
              <a:off x="8143560" y="2171880"/>
              <a:ext cx="2052360" cy="1031760"/>
            </a:xfrm>
            <a:prstGeom prst="roundRect">
              <a:avLst>
                <a:gd name="adj" fmla="val 16667"/>
              </a:avLst>
            </a:prstGeom>
            <a:solidFill>
              <a:srgbClr val="e06666"/>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ffffff"/>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Jobs</a:t>
            </a:r>
            <a:endParaRPr b="0" lang="en-US" sz="3200" strike="noStrike" u="none">
              <a:solidFill>
                <a:srgbClr val="000000"/>
              </a:solidFill>
              <a:effectLst/>
              <a:uFillTx/>
              <a:latin typeface="Arial"/>
            </a:endParaRPr>
          </a:p>
        </p:txBody>
      </p:sp>
      <p:sp>
        <p:nvSpPr>
          <p:cNvPr id="278" name="PlaceHolder 2"/>
          <p:cNvSpPr>
            <a:spLocks noGrp="1"/>
          </p:cNvSpPr>
          <p:nvPr>
            <p:ph type="sldNum" idx="53"/>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89CDFEE-C039-4BAE-BEAF-DEBAF2EE80D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79" name="Google Shape;257;p30"/>
          <p:cNvGrpSpPr/>
          <p:nvPr/>
        </p:nvGrpSpPr>
        <p:grpSpPr>
          <a:xfrm>
            <a:off x="1452240" y="2171880"/>
            <a:ext cx="2630520" cy="1174680"/>
            <a:chOff x="1452240" y="2171880"/>
            <a:chExt cx="2630520" cy="1174680"/>
          </a:xfrm>
        </p:grpSpPr>
        <p:sp>
          <p:nvSpPr>
            <p:cNvPr id="280" name="Google Shape;258;p30"/>
            <p:cNvSpPr/>
            <p:nvPr/>
          </p:nvSpPr>
          <p:spPr>
            <a:xfrm>
              <a:off x="1528560" y="224820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1" name="Google Shape;259;p30"/>
            <p:cNvSpPr/>
            <p:nvPr/>
          </p:nvSpPr>
          <p:spPr>
            <a:xfrm>
              <a:off x="1452240" y="217188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282" name="Google Shape;260;p30"/>
          <p:cNvGrpSpPr/>
          <p:nvPr/>
        </p:nvGrpSpPr>
        <p:grpSpPr>
          <a:xfrm>
            <a:off x="8143560" y="2171880"/>
            <a:ext cx="2128320" cy="1103400"/>
            <a:chOff x="8143560" y="2171880"/>
            <a:chExt cx="2128320" cy="1103400"/>
          </a:xfrm>
        </p:grpSpPr>
        <p:sp>
          <p:nvSpPr>
            <p:cNvPr id="283" name="Google Shape;261;p30"/>
            <p:cNvSpPr/>
            <p:nvPr/>
          </p:nvSpPr>
          <p:spPr>
            <a:xfrm>
              <a:off x="8219520" y="224352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84" name="Google Shape;262;p30"/>
            <p:cNvSpPr/>
            <p:nvPr/>
          </p:nvSpPr>
          <p:spPr>
            <a:xfrm>
              <a:off x="8143560" y="2171880"/>
              <a:ext cx="2052360" cy="1031760"/>
            </a:xfrm>
            <a:prstGeom prst="roundRect">
              <a:avLst>
                <a:gd name="adj" fmla="val 16667"/>
              </a:avLst>
            </a:prstGeom>
            <a:solidFill>
              <a:srgbClr val="e06666"/>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ffffff"/>
                </a:solidFill>
                <a:effectLst/>
                <a:uFillTx/>
                <a:latin typeface="Arial"/>
              </a:endParaRPr>
            </a:p>
          </p:txBody>
        </p:sp>
      </p:grpSp>
      <p:grpSp>
        <p:nvGrpSpPr>
          <p:cNvPr id="285" name="Google Shape;263;p30"/>
          <p:cNvGrpSpPr/>
          <p:nvPr/>
        </p:nvGrpSpPr>
        <p:grpSpPr>
          <a:xfrm>
            <a:off x="8143560" y="4023000"/>
            <a:ext cx="2128320" cy="1103400"/>
            <a:chOff x="8143560" y="4023000"/>
            <a:chExt cx="2128320" cy="1103400"/>
          </a:xfrm>
        </p:grpSpPr>
        <p:sp>
          <p:nvSpPr>
            <p:cNvPr id="286" name="Google Shape;264;p30"/>
            <p:cNvSpPr/>
            <p:nvPr/>
          </p:nvSpPr>
          <p:spPr>
            <a:xfrm>
              <a:off x="8219520" y="409464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87" name="Google Shape;265;p30"/>
            <p:cNvSpPr/>
            <p:nvPr/>
          </p:nvSpPr>
          <p:spPr>
            <a:xfrm>
              <a:off x="8143560" y="4023000"/>
              <a:ext cx="2052360" cy="103176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Jobs</a:t>
            </a:r>
            <a:endParaRPr b="0" lang="en-US" sz="3200" strike="noStrike" u="none">
              <a:solidFill>
                <a:srgbClr val="000000"/>
              </a:solidFill>
              <a:effectLst/>
              <a:uFillTx/>
              <a:latin typeface="Arial"/>
            </a:endParaRPr>
          </a:p>
        </p:txBody>
      </p:sp>
      <p:sp>
        <p:nvSpPr>
          <p:cNvPr id="289" name="PlaceHolder 2"/>
          <p:cNvSpPr>
            <a:spLocks noGrp="1"/>
          </p:cNvSpPr>
          <p:nvPr>
            <p:ph type="sldNum" idx="5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C5BF2CC-7D84-4886-AD45-C7A58A55A30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90" name="Google Shape;273;p31"/>
          <p:cNvGrpSpPr/>
          <p:nvPr/>
        </p:nvGrpSpPr>
        <p:grpSpPr>
          <a:xfrm>
            <a:off x="1452240" y="2171880"/>
            <a:ext cx="2630520" cy="1174680"/>
            <a:chOff x="1452240" y="2171880"/>
            <a:chExt cx="2630520" cy="1174680"/>
          </a:xfrm>
        </p:grpSpPr>
        <p:sp>
          <p:nvSpPr>
            <p:cNvPr id="291" name="Google Shape;274;p31"/>
            <p:cNvSpPr/>
            <p:nvPr/>
          </p:nvSpPr>
          <p:spPr>
            <a:xfrm>
              <a:off x="1528560" y="224820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2" name="Google Shape;275;p31"/>
            <p:cNvSpPr/>
            <p:nvPr/>
          </p:nvSpPr>
          <p:spPr>
            <a:xfrm>
              <a:off x="1452240" y="217188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293" name="Google Shape;276;p31"/>
          <p:cNvGrpSpPr/>
          <p:nvPr/>
        </p:nvGrpSpPr>
        <p:grpSpPr>
          <a:xfrm>
            <a:off x="8143560" y="2171880"/>
            <a:ext cx="2128320" cy="1103400"/>
            <a:chOff x="8143560" y="2171880"/>
            <a:chExt cx="2128320" cy="1103400"/>
          </a:xfrm>
        </p:grpSpPr>
        <p:sp>
          <p:nvSpPr>
            <p:cNvPr id="294" name="Google Shape;277;p31"/>
            <p:cNvSpPr/>
            <p:nvPr/>
          </p:nvSpPr>
          <p:spPr>
            <a:xfrm>
              <a:off x="8219520" y="224352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95" name="Google Shape;278;p31"/>
            <p:cNvSpPr/>
            <p:nvPr/>
          </p:nvSpPr>
          <p:spPr>
            <a:xfrm>
              <a:off x="8143560" y="2171880"/>
              <a:ext cx="2052360" cy="1031760"/>
            </a:xfrm>
            <a:prstGeom prst="roundRect">
              <a:avLst>
                <a:gd name="adj" fmla="val 16667"/>
              </a:avLst>
            </a:prstGeom>
            <a:solidFill>
              <a:srgbClr val="e06666"/>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ffffff"/>
                </a:solidFill>
                <a:effectLst/>
                <a:uFillTx/>
                <a:latin typeface="Arial"/>
              </a:endParaRPr>
            </a:p>
          </p:txBody>
        </p:sp>
      </p:grpSp>
      <p:grpSp>
        <p:nvGrpSpPr>
          <p:cNvPr id="296" name="Google Shape;279;p31"/>
          <p:cNvGrpSpPr/>
          <p:nvPr/>
        </p:nvGrpSpPr>
        <p:grpSpPr>
          <a:xfrm>
            <a:off x="8143560" y="4023000"/>
            <a:ext cx="2128320" cy="1103400"/>
            <a:chOff x="8143560" y="4023000"/>
            <a:chExt cx="2128320" cy="1103400"/>
          </a:xfrm>
        </p:grpSpPr>
        <p:sp>
          <p:nvSpPr>
            <p:cNvPr id="297" name="Google Shape;280;p31"/>
            <p:cNvSpPr/>
            <p:nvPr/>
          </p:nvSpPr>
          <p:spPr>
            <a:xfrm>
              <a:off x="8219520" y="409464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98" name="Google Shape;281;p31"/>
            <p:cNvSpPr/>
            <p:nvPr/>
          </p:nvSpPr>
          <p:spPr>
            <a:xfrm>
              <a:off x="8143560" y="4023000"/>
              <a:ext cx="2052360" cy="1031760"/>
            </a:xfrm>
            <a:prstGeom prst="round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Jobs</a:t>
            </a:r>
            <a:endParaRPr b="0" lang="en-US" sz="3200" strike="noStrike" u="none">
              <a:solidFill>
                <a:srgbClr val="000000"/>
              </a:solidFill>
              <a:effectLst/>
              <a:uFillTx/>
              <a:latin typeface="Arial"/>
            </a:endParaRPr>
          </a:p>
        </p:txBody>
      </p:sp>
      <p:sp>
        <p:nvSpPr>
          <p:cNvPr id="300" name="PlaceHolder 2"/>
          <p:cNvSpPr>
            <a:spLocks noGrp="1"/>
          </p:cNvSpPr>
          <p:nvPr>
            <p:ph type="sldNum" idx="5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0CBF364-F404-4727-8B8C-BC3FFC39B96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301" name="Google Shape;289;p32"/>
          <p:cNvGrpSpPr/>
          <p:nvPr/>
        </p:nvGrpSpPr>
        <p:grpSpPr>
          <a:xfrm>
            <a:off x="1452240" y="2171880"/>
            <a:ext cx="2630520" cy="1174680"/>
            <a:chOff x="1452240" y="2171880"/>
            <a:chExt cx="2630520" cy="1174680"/>
          </a:xfrm>
        </p:grpSpPr>
        <p:sp>
          <p:nvSpPr>
            <p:cNvPr id="302" name="Google Shape;290;p32"/>
            <p:cNvSpPr/>
            <p:nvPr/>
          </p:nvSpPr>
          <p:spPr>
            <a:xfrm>
              <a:off x="1528560" y="224820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3" name="Google Shape;291;p32"/>
            <p:cNvSpPr/>
            <p:nvPr/>
          </p:nvSpPr>
          <p:spPr>
            <a:xfrm>
              <a:off x="1452240" y="2171880"/>
              <a:ext cx="2554200" cy="1098360"/>
            </a:xfrm>
            <a:prstGeom prst="roundRect">
              <a:avLst>
                <a:gd name="adj" fmla="val 16667"/>
              </a:avLst>
            </a:prstGeom>
            <a:solidFill>
              <a:srgbClr val="93c47d"/>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304" name="Google Shape;292;p32"/>
          <p:cNvGrpSpPr/>
          <p:nvPr/>
        </p:nvGrpSpPr>
        <p:grpSpPr>
          <a:xfrm>
            <a:off x="8143560" y="2171880"/>
            <a:ext cx="2128320" cy="1103400"/>
            <a:chOff x="8143560" y="2171880"/>
            <a:chExt cx="2128320" cy="1103400"/>
          </a:xfrm>
        </p:grpSpPr>
        <p:sp>
          <p:nvSpPr>
            <p:cNvPr id="305" name="Google Shape;293;p32"/>
            <p:cNvSpPr/>
            <p:nvPr/>
          </p:nvSpPr>
          <p:spPr>
            <a:xfrm>
              <a:off x="8219520" y="224352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06" name="Google Shape;294;p32"/>
            <p:cNvSpPr/>
            <p:nvPr/>
          </p:nvSpPr>
          <p:spPr>
            <a:xfrm>
              <a:off x="8143560" y="2171880"/>
              <a:ext cx="2052360" cy="1031760"/>
            </a:xfrm>
            <a:prstGeom prst="roundRect">
              <a:avLst>
                <a:gd name="adj" fmla="val 16667"/>
              </a:avLst>
            </a:prstGeom>
            <a:solidFill>
              <a:srgbClr val="e06666"/>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ffffff"/>
                </a:solidFill>
                <a:effectLst/>
                <a:uFillTx/>
                <a:latin typeface="Arial"/>
              </a:endParaRPr>
            </a:p>
          </p:txBody>
        </p:sp>
      </p:grpSp>
      <p:grpSp>
        <p:nvGrpSpPr>
          <p:cNvPr id="307" name="Google Shape;295;p32"/>
          <p:cNvGrpSpPr/>
          <p:nvPr/>
        </p:nvGrpSpPr>
        <p:grpSpPr>
          <a:xfrm>
            <a:off x="8143560" y="4023000"/>
            <a:ext cx="2128320" cy="1103400"/>
            <a:chOff x="8143560" y="4023000"/>
            <a:chExt cx="2128320" cy="1103400"/>
          </a:xfrm>
        </p:grpSpPr>
        <p:sp>
          <p:nvSpPr>
            <p:cNvPr id="308" name="Google Shape;296;p32"/>
            <p:cNvSpPr/>
            <p:nvPr/>
          </p:nvSpPr>
          <p:spPr>
            <a:xfrm>
              <a:off x="8219520" y="4094640"/>
              <a:ext cx="2052360" cy="103176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09" name="Google Shape;297;p32"/>
            <p:cNvSpPr/>
            <p:nvPr/>
          </p:nvSpPr>
          <p:spPr>
            <a:xfrm>
              <a:off x="8143560" y="4023000"/>
              <a:ext cx="2052360" cy="1031760"/>
            </a:xfrm>
            <a:prstGeom prst="round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311"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StatefulSet</a:t>
            </a:r>
            <a:endParaRPr b="0" lang="en-US" sz="3000" strike="noStrike" u="none">
              <a:solidFill>
                <a:srgbClr val="000000"/>
              </a:solidFill>
              <a:effectLst/>
              <a:uFillTx/>
              <a:latin typeface="Arial"/>
            </a:endParaRPr>
          </a:p>
        </p:txBody>
      </p:sp>
      <p:sp>
        <p:nvSpPr>
          <p:cNvPr id="312" name="PlaceHolder 3"/>
          <p:cNvSpPr>
            <a:spLocks noGrp="1"/>
          </p:cNvSpPr>
          <p:nvPr>
            <p:ph type="sldNum" idx="5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B8DB9D7-1FAF-47D5-8562-172E5ED9E0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13"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a:buChar char="●"/>
              <a:tabLst>
                <a:tab algn="l" pos="0"/>
              </a:tabLst>
            </a:pPr>
            <a:r>
              <a:rPr b="1" lang="en-US" sz="3000" strike="noStrike" u="none">
                <a:solidFill>
                  <a:srgbClr val="888888"/>
                </a:solidFill>
                <a:effectLst/>
                <a:uFillTx/>
                <a:latin typeface="Helvetica Neue"/>
                <a:ea typeface="Helvetica Neue"/>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CronJob</a:t>
            </a:r>
            <a:endParaRPr b="0" lang="en-US" sz="3200" strike="noStrike" u="none">
              <a:solidFill>
                <a:srgbClr val="000000"/>
              </a:solidFill>
              <a:effectLst/>
              <a:uFillTx/>
              <a:latin typeface="Arial"/>
            </a:endParaRPr>
          </a:p>
        </p:txBody>
      </p:sp>
      <p:sp>
        <p:nvSpPr>
          <p:cNvPr id="315" name="PlaceHolder 2"/>
          <p:cNvSpPr>
            <a:spLocks noGrp="1"/>
          </p:cNvSpPr>
          <p:nvPr>
            <p:ph type="sldNum" idx="57"/>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67D888C-5AF1-4BC4-AF29-CE38542CD3D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16" name="Google Shape;314;p34"/>
          <p:cNvSpPr/>
          <p:nvPr/>
        </p:nvSpPr>
        <p:spPr>
          <a:xfrm>
            <a:off x="211680" y="1373400"/>
            <a:ext cx="4597200" cy="497016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batch/v1beta1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CronJob</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hourly-job</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schedule: "0 * * * *"</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jobTemplate: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p:txBody>
      </p:sp>
      <p:grpSp>
        <p:nvGrpSpPr>
          <p:cNvPr id="317" name="Google Shape;315;p34"/>
          <p:cNvGrpSpPr/>
          <p:nvPr/>
        </p:nvGrpSpPr>
        <p:grpSpPr>
          <a:xfrm>
            <a:off x="7232040" y="1647360"/>
            <a:ext cx="2630520" cy="1174680"/>
            <a:chOff x="7232040" y="1647360"/>
            <a:chExt cx="2630520" cy="1174680"/>
          </a:xfrm>
        </p:grpSpPr>
        <p:sp>
          <p:nvSpPr>
            <p:cNvPr id="318" name="Google Shape;316;p34"/>
            <p:cNvSpPr/>
            <p:nvPr/>
          </p:nvSpPr>
          <p:spPr>
            <a:xfrm>
              <a:off x="7308360" y="172368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9" name="Google Shape;317;p34"/>
            <p:cNvSpPr/>
            <p:nvPr/>
          </p:nvSpPr>
          <p:spPr>
            <a:xfrm>
              <a:off x="7232040" y="1647360"/>
              <a:ext cx="2554200" cy="1098360"/>
            </a:xfrm>
            <a:prstGeom prst="roundRect">
              <a:avLst>
                <a:gd name="adj" fmla="val 16667"/>
              </a:avLst>
            </a:prstGeom>
            <a:solidFill>
              <a:srgbClr val="8e7cc3"/>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CronJob</a:t>
              </a:r>
              <a:endParaRPr b="0" lang="en-US" sz="1800" strike="noStrike" u="none">
                <a:solidFill>
                  <a:srgbClr val="ffffff"/>
                </a:solidFill>
                <a:effectLst/>
                <a:uFillTx/>
                <a:latin typeface="Arial"/>
              </a:endParaRPr>
            </a:p>
          </p:txBody>
        </p:sp>
      </p:grpSp>
      <p:grpSp>
        <p:nvGrpSpPr>
          <p:cNvPr id="320" name="Google Shape;318;p34"/>
          <p:cNvGrpSpPr/>
          <p:nvPr/>
        </p:nvGrpSpPr>
        <p:grpSpPr>
          <a:xfrm>
            <a:off x="5454360" y="4863960"/>
            <a:ext cx="2630160" cy="1174680"/>
            <a:chOff x="5454360" y="4863960"/>
            <a:chExt cx="2630160" cy="1174680"/>
          </a:xfrm>
        </p:grpSpPr>
        <p:sp>
          <p:nvSpPr>
            <p:cNvPr id="321" name="Google Shape;319;p34"/>
            <p:cNvSpPr/>
            <p:nvPr/>
          </p:nvSpPr>
          <p:spPr>
            <a:xfrm>
              <a:off x="5530320" y="494028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2" name="Google Shape;320;p34"/>
            <p:cNvSpPr/>
            <p:nvPr/>
          </p:nvSpPr>
          <p:spPr>
            <a:xfrm>
              <a:off x="5454360" y="486396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323" name="Google Shape;321;p34"/>
          <p:cNvGrpSpPr/>
          <p:nvPr/>
        </p:nvGrpSpPr>
        <p:grpSpPr>
          <a:xfrm>
            <a:off x="8878320" y="4863960"/>
            <a:ext cx="2630160" cy="1174680"/>
            <a:chOff x="8878320" y="4863960"/>
            <a:chExt cx="2630160" cy="1174680"/>
          </a:xfrm>
        </p:grpSpPr>
        <p:sp>
          <p:nvSpPr>
            <p:cNvPr id="324" name="Google Shape;322;p34"/>
            <p:cNvSpPr/>
            <p:nvPr/>
          </p:nvSpPr>
          <p:spPr>
            <a:xfrm>
              <a:off x="8954280" y="494028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5" name="Google Shape;323;p34"/>
            <p:cNvSpPr/>
            <p:nvPr/>
          </p:nvSpPr>
          <p:spPr>
            <a:xfrm>
              <a:off x="8878320" y="4863960"/>
              <a:ext cx="2554200" cy="10983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326" name="Google Shape;324;p34"/>
          <p:cNvGrpSpPr/>
          <p:nvPr/>
        </p:nvGrpSpPr>
        <p:grpSpPr>
          <a:xfrm>
            <a:off x="8141400" y="2975400"/>
            <a:ext cx="923400" cy="906120"/>
            <a:chOff x="8141400" y="2975400"/>
            <a:chExt cx="923400" cy="906120"/>
          </a:xfrm>
        </p:grpSpPr>
        <p:sp>
          <p:nvSpPr>
            <p:cNvPr id="327" name="Google Shape;325;p34"/>
            <p:cNvSpPr/>
            <p:nvPr/>
          </p:nvSpPr>
          <p:spPr>
            <a:xfrm>
              <a:off x="8141400" y="2975400"/>
              <a:ext cx="923400" cy="906120"/>
            </a:xfrm>
            <a:prstGeom prst="ellipse">
              <a:avLst/>
            </a:prstGeom>
            <a:solidFill>
              <a:srgbClr val="f3f3f3"/>
            </a:solidFill>
            <a:ln w="28575">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8" name="Google Shape;326;p34"/>
            <p:cNvSpPr/>
            <p:nvPr/>
          </p:nvSpPr>
          <p:spPr>
            <a:xfrm flipH="1">
              <a:off x="8606880" y="3429000"/>
              <a:ext cx="457200" cy="44280"/>
            </a:xfrm>
            <a:custGeom>
              <a:avLst/>
              <a:gdLst>
                <a:gd name="textAreaLeft" fmla="*/ 360 w 457200"/>
                <a:gd name="textAreaRight" fmla="*/ 457920 w 457200"/>
                <a:gd name="textAreaTop" fmla="*/ 0 h 44280"/>
                <a:gd name="textAreaBottom" fmla="*/ 44640 h 44280"/>
              </a:gdLst>
              <a:ahLst/>
              <a:cxnLst/>
              <a:rect l="textAreaLeft" t="textAreaTop" r="textAreaRight" b="textAreaBottom"/>
              <a:pathLst>
                <a:path w="21600" h="21600">
                  <a:moveTo>
                    <a:pt x="0" y="0"/>
                  </a:moveTo>
                  <a:lnTo>
                    <a:pt x="21600" y="21600"/>
                  </a:lnTo>
                </a:path>
              </a:pathLst>
            </a:custGeom>
            <a:noFill/>
            <a:ln w="19050">
              <a:solidFill>
                <a:srgbClr val="44546a"/>
              </a:solidFill>
              <a:round/>
              <a:headEnd len="med" type="triangle" w="med"/>
            </a:ln>
          </p:spPr>
          <p:style>
            <a:lnRef idx="0"/>
            <a:fillRef idx="0"/>
            <a:effectRef idx="0"/>
            <a:fontRef idx="minor"/>
          </p:style>
          <p:txBody>
            <a:bodyPr lIns="90000" rIns="90000" tIns="-360" bIns="-360" anchor="t">
              <a:noAutofit/>
            </a:bodyPr>
            <a:p>
              <a:endParaRPr b="0" lang="en-US" sz="1800" strike="noStrike" u="none">
                <a:solidFill>
                  <a:srgbClr val="000000"/>
                </a:solidFill>
                <a:effectLst/>
                <a:uFillTx/>
                <a:latin typeface="Arial"/>
              </a:endParaRPr>
            </a:p>
          </p:txBody>
        </p:sp>
        <p:sp>
          <p:nvSpPr>
            <p:cNvPr id="329" name="Google Shape;327;p34"/>
            <p:cNvSpPr/>
            <p:nvPr/>
          </p:nvSpPr>
          <p:spPr>
            <a:xfrm rot="10800000">
              <a:off x="8604360" y="2976480"/>
              <a:ext cx="3600" cy="487800"/>
            </a:xfrm>
            <a:custGeom>
              <a:avLst/>
              <a:gdLst>
                <a:gd name="textAreaLeft" fmla="*/ 0 w 3600"/>
                <a:gd name="textAreaRight" fmla="*/ 3960 w 3600"/>
                <a:gd name="textAreaTop" fmla="*/ 0 h 487800"/>
                <a:gd name="textAreaBottom" fmla="*/ 488160 h 48780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330" name="Google Shape;328;p34"/>
          <p:cNvSpPr/>
          <p:nvPr/>
        </p:nvSpPr>
        <p:spPr>
          <a:xfrm>
            <a:off x="8141400" y="2975400"/>
            <a:ext cx="923400" cy="906120"/>
          </a:xfrm>
          <a:prstGeom prst="ellipse">
            <a:avLst/>
          </a:prstGeom>
          <a:solidFill>
            <a:srgbClr val="f3f3f3"/>
          </a:solidFill>
          <a:ln w="28575">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1" name="Google Shape;329;p34"/>
          <p:cNvSpPr/>
          <p:nvPr/>
        </p:nvSpPr>
        <p:spPr>
          <a:xfrm flipH="1" rot="10800000">
            <a:off x="8602920" y="3475440"/>
            <a:ext cx="3240" cy="407160"/>
          </a:xfrm>
          <a:custGeom>
            <a:avLst/>
            <a:gdLst>
              <a:gd name="textAreaLeft" fmla="*/ -360 w 3240"/>
              <a:gd name="textAreaRight" fmla="*/ 3240 w 3240"/>
              <a:gd name="textAreaTop" fmla="*/ 0 h 407160"/>
              <a:gd name="textAreaBottom" fmla="*/ 407520 h 407160"/>
            </a:gdLst>
            <a:ahLst/>
            <a:cxnLst/>
            <a:rect l="textAreaLeft" t="textAreaTop" r="textAreaRight" b="textAreaBottom"/>
            <a:pathLst>
              <a:path w="21600" h="21600">
                <a:moveTo>
                  <a:pt x="0" y="0"/>
                </a:moveTo>
                <a:lnTo>
                  <a:pt x="21600" y="21600"/>
                </a:lnTo>
              </a:path>
            </a:pathLst>
          </a:custGeom>
          <a:noFill/>
          <a:ln w="19050">
            <a:solidFill>
              <a:srgbClr val="44546a"/>
            </a:solidFill>
            <a:round/>
            <a:head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2" name="Google Shape;330;p34"/>
          <p:cNvSpPr/>
          <p:nvPr/>
        </p:nvSpPr>
        <p:spPr>
          <a:xfrm rot="10800000">
            <a:off x="8604360" y="2976480"/>
            <a:ext cx="3600" cy="487800"/>
          </a:xfrm>
          <a:custGeom>
            <a:avLst/>
            <a:gdLst>
              <a:gd name="textAreaLeft" fmla="*/ 0 w 3600"/>
              <a:gd name="textAreaRight" fmla="*/ 3960 w 3600"/>
              <a:gd name="textAreaTop" fmla="*/ 0 h 487800"/>
              <a:gd name="textAreaBottom" fmla="*/ 488160 h 48780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33" name="Google Shape;331;p34"/>
          <p:cNvGrpSpPr/>
          <p:nvPr/>
        </p:nvGrpSpPr>
        <p:grpSpPr>
          <a:xfrm>
            <a:off x="8143560" y="2975400"/>
            <a:ext cx="923400" cy="906120"/>
            <a:chOff x="8143560" y="2975400"/>
            <a:chExt cx="923400" cy="906120"/>
          </a:xfrm>
        </p:grpSpPr>
        <p:sp>
          <p:nvSpPr>
            <p:cNvPr id="334" name="Google Shape;332;p34"/>
            <p:cNvSpPr/>
            <p:nvPr/>
          </p:nvSpPr>
          <p:spPr>
            <a:xfrm>
              <a:off x="8143560" y="2975400"/>
              <a:ext cx="923400" cy="906120"/>
            </a:xfrm>
            <a:prstGeom prst="ellipse">
              <a:avLst/>
            </a:prstGeom>
            <a:solidFill>
              <a:srgbClr val="f3f3f3"/>
            </a:solidFill>
            <a:ln w="28575">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5" name="Google Shape;333;p34"/>
            <p:cNvSpPr/>
            <p:nvPr/>
          </p:nvSpPr>
          <p:spPr>
            <a:xfrm flipH="1" rot="10800000">
              <a:off x="8279280" y="3475440"/>
              <a:ext cx="329760" cy="274320"/>
            </a:xfrm>
            <a:custGeom>
              <a:avLst/>
              <a:gdLst>
                <a:gd name="textAreaLeft" fmla="*/ 360 w 329760"/>
                <a:gd name="textAreaRight" fmla="*/ 330480 w 329760"/>
                <a:gd name="textAreaTop" fmla="*/ 0 h 274320"/>
                <a:gd name="textAreaBottom" fmla="*/ 274680 h 274320"/>
              </a:gdLst>
              <a:ahLst/>
              <a:cxnLst/>
              <a:rect l="textAreaLeft" t="textAreaTop" r="textAreaRight" b="textAreaBottom"/>
              <a:pathLst>
                <a:path w="21600" h="21600">
                  <a:moveTo>
                    <a:pt x="0" y="0"/>
                  </a:moveTo>
                  <a:lnTo>
                    <a:pt x="21600" y="21600"/>
                  </a:lnTo>
                </a:path>
              </a:pathLst>
            </a:custGeom>
            <a:noFill/>
            <a:ln w="19050">
              <a:solidFill>
                <a:srgbClr val="000000"/>
              </a:solidFill>
              <a:round/>
              <a:head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6" name="Google Shape;334;p34"/>
            <p:cNvSpPr/>
            <p:nvPr/>
          </p:nvSpPr>
          <p:spPr>
            <a:xfrm rot="10800000">
              <a:off x="8606880" y="2976480"/>
              <a:ext cx="3600" cy="487800"/>
            </a:xfrm>
            <a:custGeom>
              <a:avLst/>
              <a:gdLst>
                <a:gd name="textAreaLeft" fmla="*/ 0 w 3600"/>
                <a:gd name="textAreaRight" fmla="*/ 3960 w 3600"/>
                <a:gd name="textAreaTop" fmla="*/ 0 h 487800"/>
                <a:gd name="textAreaBottom" fmla="*/ 488160 h 487800"/>
              </a:gdLst>
              <a:ahLst/>
              <a:cxnLst/>
              <a:rect l="textAreaLeft" t="textAreaTop" r="textAreaRight" b="textAreaBottom"/>
              <a:pathLst>
                <a:path w="21600" h="21600">
                  <a:moveTo>
                    <a:pt x="0" y="0"/>
                  </a:moveTo>
                  <a:lnTo>
                    <a:pt x="21600" y="21600"/>
                  </a:lnTo>
                </a:path>
              </a:pathLst>
            </a:custGeom>
            <a:noFill/>
            <a:ln w="19050">
              <a:solidFill>
                <a:srgbClr val="000000"/>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nodeType="clickEffect" fill="hold" presetClass="entr" presetID="10">
                                  <p:stCondLst>
                                    <p:cond delay="0"/>
                                  </p:stCondLst>
                                  <p:childTnLst>
                                    <p:set>
                                      <p:cBhvr>
                                        <p:cTn id="43" dur="1" fill="hold">
                                          <p:stCondLst>
                                            <p:cond delay="0"/>
                                          </p:stCondLst>
                                        </p:cTn>
                                        <p:tgtEl>
                                          <p:spTgt spid="326"/>
                                        </p:tgtEl>
                                        <p:attrNameLst>
                                          <p:attrName>style.visibility</p:attrName>
                                        </p:attrNameLst>
                                      </p:cBhvr>
                                      <p:to>
                                        <p:strVal val="visible"/>
                                      </p:to>
                                    </p:set>
                                    <p:animEffect filter="fade" transition="in">
                                      <p:cBhvr additive="repl">
                                        <p:cTn id="44" dur="1000"/>
                                        <p:tgtEl>
                                          <p:spTgt spid="326"/>
                                        </p:tgtEl>
                                      </p:cBhvr>
                                    </p:animEffec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0">
                                  <p:stCondLst>
                                    <p:cond delay="0"/>
                                  </p:stCondLst>
                                  <p:childTnLst>
                                    <p:set>
                                      <p:cBhvr>
                                        <p:cTn id="48" dur="1" fill="hold">
                                          <p:stCondLst>
                                            <p:cond delay="0"/>
                                          </p:stCondLst>
                                        </p:cTn>
                                        <p:tgtEl>
                                          <p:spTgt spid="320"/>
                                        </p:tgtEl>
                                        <p:attrNameLst>
                                          <p:attrName>style.visibility</p:attrName>
                                        </p:attrNameLst>
                                      </p:cBhvr>
                                      <p:to>
                                        <p:strVal val="visible"/>
                                      </p:to>
                                    </p:set>
                                    <p:animEffect filter="fade" transition="in">
                                      <p:cBhvr additive="repl">
                                        <p:cTn id="49" dur="1000"/>
                                        <p:tgtEl>
                                          <p:spTgt spid="320"/>
                                        </p:tgtEl>
                                      </p:cBhvr>
                                    </p:animEffect>
                                  </p:childTnLst>
                                </p:cTn>
                              </p:par>
                              <p:par>
                                <p:cTn id="50" nodeType="withEffect" fill="hold" presetClass="entr" presetID="10">
                                  <p:stCondLst>
                                    <p:cond delay="0"/>
                                  </p:stCondLst>
                                  <p:childTnLst>
                                    <p:set>
                                      <p:cBhvr>
                                        <p:cTn id="51" dur="1" fill="hold">
                                          <p:stCondLst>
                                            <p:cond delay="0"/>
                                          </p:stCondLst>
                                        </p:cTn>
                                        <p:tgtEl>
                                          <p:spTgt spid="330"/>
                                        </p:tgtEl>
                                        <p:attrNameLst>
                                          <p:attrName>style.visibility</p:attrName>
                                        </p:attrNameLst>
                                      </p:cBhvr>
                                      <p:to>
                                        <p:strVal val="visible"/>
                                      </p:to>
                                    </p:set>
                                    <p:animEffect filter="fade" transition="in">
                                      <p:cBhvr additive="repl">
                                        <p:cTn id="52" dur="1000"/>
                                        <p:tgtEl>
                                          <p:spTgt spid="330"/>
                                        </p:tgtEl>
                                      </p:cBhvr>
                                    </p:animEffect>
                                  </p:childTnLst>
                                </p:cTn>
                              </p:par>
                              <p:par>
                                <p:cTn id="53" nodeType="withEffect" fill="hold" presetClass="entr" presetID="10">
                                  <p:stCondLst>
                                    <p:cond delay="0"/>
                                  </p:stCondLst>
                                  <p:childTnLst>
                                    <p:set>
                                      <p:cBhvr>
                                        <p:cTn id="54" dur="1" fill="hold">
                                          <p:stCondLst>
                                            <p:cond delay="0"/>
                                          </p:stCondLst>
                                        </p:cTn>
                                        <p:tgtEl>
                                          <p:spTgt spid="331"/>
                                        </p:tgtEl>
                                        <p:attrNameLst>
                                          <p:attrName>style.visibility</p:attrName>
                                        </p:attrNameLst>
                                      </p:cBhvr>
                                      <p:to>
                                        <p:strVal val="visible"/>
                                      </p:to>
                                    </p:set>
                                    <p:animEffect filter="fade" transition="in">
                                      <p:cBhvr additive="repl">
                                        <p:cTn id="55" dur="1000"/>
                                        <p:tgtEl>
                                          <p:spTgt spid="331"/>
                                        </p:tgtEl>
                                      </p:cBhvr>
                                    </p:animEffect>
                                  </p:childTnLst>
                                </p:cTn>
                              </p:par>
                              <p:par>
                                <p:cTn id="56" nodeType="withEffect" fill="hold" presetClass="entr" presetID="10">
                                  <p:stCondLst>
                                    <p:cond delay="0"/>
                                  </p:stCondLst>
                                  <p:childTnLst>
                                    <p:set>
                                      <p:cBhvr>
                                        <p:cTn id="57" dur="1" fill="hold">
                                          <p:stCondLst>
                                            <p:cond delay="0"/>
                                          </p:stCondLst>
                                        </p:cTn>
                                        <p:tgtEl>
                                          <p:spTgt spid="332"/>
                                        </p:tgtEl>
                                        <p:attrNameLst>
                                          <p:attrName>style.visibility</p:attrName>
                                        </p:attrNameLst>
                                      </p:cBhvr>
                                      <p:to>
                                        <p:strVal val="visible"/>
                                      </p:to>
                                    </p:set>
                                    <p:animEffect filter="fade" transition="in">
                                      <p:cBhvr additive="repl">
                                        <p:cTn id="58" dur="1000"/>
                                        <p:tgtEl>
                                          <p:spTgt spid="332"/>
                                        </p:tgtEl>
                                      </p:cBhvr>
                                    </p:animEffec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0">
                                  <p:stCondLst>
                                    <p:cond delay="0"/>
                                  </p:stCondLst>
                                  <p:childTnLst>
                                    <p:set>
                                      <p:cBhvr>
                                        <p:cTn id="62" dur="1" fill="hold">
                                          <p:stCondLst>
                                            <p:cond delay="0"/>
                                          </p:stCondLst>
                                        </p:cTn>
                                        <p:tgtEl>
                                          <p:spTgt spid="323"/>
                                        </p:tgtEl>
                                        <p:attrNameLst>
                                          <p:attrName>style.visibility</p:attrName>
                                        </p:attrNameLst>
                                      </p:cBhvr>
                                      <p:to>
                                        <p:strVal val="visible"/>
                                      </p:to>
                                    </p:set>
                                    <p:animEffect filter="fade" transition="in">
                                      <p:cBhvr additive="repl">
                                        <p:cTn id="63" dur="1000"/>
                                        <p:tgtEl>
                                          <p:spTgt spid="323"/>
                                        </p:tgtEl>
                                      </p:cBhvr>
                                    </p:animEffect>
                                  </p:childTnLst>
                                </p:cTn>
                              </p:par>
                              <p:par>
                                <p:cTn id="64" nodeType="withEffect" fill="hold" presetClass="entr" presetID="10">
                                  <p:stCondLst>
                                    <p:cond delay="0"/>
                                  </p:stCondLst>
                                  <p:childTnLst>
                                    <p:set>
                                      <p:cBhvr>
                                        <p:cTn id="65" dur="1" fill="hold">
                                          <p:stCondLst>
                                            <p:cond delay="0"/>
                                          </p:stCondLst>
                                        </p:cTn>
                                        <p:tgtEl>
                                          <p:spTgt spid="333"/>
                                        </p:tgtEl>
                                        <p:attrNameLst>
                                          <p:attrName>style.visibility</p:attrName>
                                        </p:attrNameLst>
                                      </p:cBhvr>
                                      <p:to>
                                        <p:strVal val="visible"/>
                                      </p:to>
                                    </p:set>
                                    <p:animEffect filter="fade" transition="in">
                                      <p:cBhvr additive="repl">
                                        <p:cTn id="66" dur="10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338" name="PlaceHolder 2"/>
          <p:cNvSpPr>
            <a:spLocks noGrp="1"/>
          </p:cNvSpPr>
          <p:nvPr>
            <p:ph/>
          </p:nvPr>
        </p:nvSpPr>
        <p:spPr>
          <a:xfrm>
            <a:off x="828000" y="1528200"/>
            <a:ext cx="4985640" cy="520020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Resource Limits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Ingress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DaemonSet</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StatefulSet</a:t>
            </a:r>
            <a:endParaRPr b="0" lang="en-US" sz="3000" strike="noStrike" u="none">
              <a:solidFill>
                <a:srgbClr val="000000"/>
              </a:solidFill>
              <a:effectLst/>
              <a:uFillTx/>
              <a:latin typeface="Arial"/>
            </a:endParaRPr>
          </a:p>
        </p:txBody>
      </p:sp>
      <p:sp>
        <p:nvSpPr>
          <p:cNvPr id="339" name="PlaceHolder 3"/>
          <p:cNvSpPr>
            <a:spLocks noGrp="1"/>
          </p:cNvSpPr>
          <p:nvPr>
            <p:ph type="sldNum" idx="5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D5B147D-9A0D-4E66-A46E-1E784E9B133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40" name="PlaceHolder 4"/>
          <p:cNvSpPr>
            <a:spLocks noGrp="1"/>
          </p:cNvSpPr>
          <p:nvPr>
            <p:ph/>
          </p:nvPr>
        </p:nvSpPr>
        <p:spPr>
          <a:xfrm>
            <a:off x="6258240" y="1619280"/>
            <a:ext cx="498564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Jobs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CronJobs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Which type of controller should be used for the</a:t>
            </a:r>
            <a:endParaRPr b="0" lang="en-US" sz="3200" strike="noStrike" u="none">
              <a:solidFill>
                <a:srgbClr val="000000"/>
              </a:solidFill>
              <a:effectLst/>
              <a:uFillTx/>
              <a:latin typeface="Arial"/>
            </a:endParaRPr>
          </a:p>
          <a:p>
            <a:pPr indent="0">
              <a:lnSpc>
                <a:spcPct val="90000"/>
              </a:lnSpc>
              <a:buNone/>
              <a:tabLst>
                <a:tab algn="l" pos="0"/>
              </a:tabLst>
            </a:pPr>
            <a:r>
              <a:rPr b="0" lang="en-US" sz="3200" strike="noStrike" u="none">
                <a:solidFill>
                  <a:srgbClr val="233445"/>
                </a:solidFill>
                <a:effectLst/>
                <a:uFillTx/>
                <a:latin typeface="Helvetica Neue Light"/>
                <a:ea typeface="Helvetica Neue Light"/>
              </a:rPr>
              <a:t>following scenario?</a:t>
            </a:r>
            <a:endParaRPr b="0" lang="en-US" sz="3200" strike="noStrike" u="none">
              <a:solidFill>
                <a:srgbClr val="000000"/>
              </a:solidFill>
              <a:effectLst/>
              <a:uFillTx/>
              <a:latin typeface="Arial"/>
            </a:endParaRPr>
          </a:p>
        </p:txBody>
      </p:sp>
      <p:sp>
        <p:nvSpPr>
          <p:cNvPr id="342" name="PlaceHolder 2"/>
          <p:cNvSpPr>
            <a:spLocks noGrp="1"/>
          </p:cNvSpPr>
          <p:nvPr>
            <p:ph/>
          </p:nvPr>
        </p:nvSpPr>
        <p:spPr>
          <a:xfrm>
            <a:off x="828000" y="1512000"/>
            <a:ext cx="10510920" cy="467892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A horizontally scalable webapp that stores its state information in an external database.</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Job</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DaemonSet</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Deployment</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4. StatefulSet</a:t>
            </a:r>
            <a:endParaRPr b="0" lang="en-US" sz="2400" strike="noStrike" u="none">
              <a:solidFill>
                <a:srgbClr val="000000"/>
              </a:solidFill>
              <a:effectLst/>
              <a:uFillTx/>
              <a:latin typeface="Arial"/>
            </a:endParaRPr>
          </a:p>
        </p:txBody>
      </p:sp>
      <p:sp>
        <p:nvSpPr>
          <p:cNvPr id="343" name="PlaceHolder 3"/>
          <p:cNvSpPr>
            <a:spLocks noGrp="1"/>
          </p:cNvSpPr>
          <p:nvPr>
            <p:ph type="sldNum" idx="59"/>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06D1A43-ECF7-45DD-B910-DC1968A6F83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Which type of controller should be used for the</a:t>
            </a:r>
            <a:endParaRPr b="0" lang="en-US" sz="3200" strike="noStrike" u="none">
              <a:solidFill>
                <a:srgbClr val="000000"/>
              </a:solidFill>
              <a:effectLst/>
              <a:uFillTx/>
              <a:latin typeface="Arial"/>
            </a:endParaRPr>
          </a:p>
          <a:p>
            <a:pPr indent="0">
              <a:lnSpc>
                <a:spcPct val="90000"/>
              </a:lnSpc>
              <a:buNone/>
              <a:tabLst>
                <a:tab algn="l" pos="0"/>
              </a:tabLst>
            </a:pPr>
            <a:r>
              <a:rPr b="0" lang="en-US" sz="3200" strike="noStrike" u="none">
                <a:solidFill>
                  <a:srgbClr val="233445"/>
                </a:solidFill>
                <a:effectLst/>
                <a:uFillTx/>
                <a:latin typeface="Helvetica Neue Light"/>
                <a:ea typeface="Helvetica Neue Light"/>
              </a:rPr>
              <a:t>following scenario?</a:t>
            </a:r>
            <a:endParaRPr b="0" lang="en-US" sz="3200" strike="noStrike" u="none">
              <a:solidFill>
                <a:srgbClr val="000000"/>
              </a:solidFill>
              <a:effectLst/>
              <a:uFillTx/>
              <a:latin typeface="Arial"/>
            </a:endParaRPr>
          </a:p>
        </p:txBody>
      </p:sp>
      <p:sp>
        <p:nvSpPr>
          <p:cNvPr id="345" name="PlaceHolder 2"/>
          <p:cNvSpPr>
            <a:spLocks noGrp="1"/>
          </p:cNvSpPr>
          <p:nvPr>
            <p:ph/>
          </p:nvPr>
        </p:nvSpPr>
        <p:spPr>
          <a:xfrm>
            <a:off x="828000" y="1512000"/>
            <a:ext cx="10510920" cy="467892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A nightly batch process that calculates the total number of daily active users of an app.</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Job</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DaemonSet</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Deployment</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4. StatefulSet</a:t>
            </a:r>
            <a:endParaRPr b="0" lang="en-US" sz="2400" strike="noStrike" u="none">
              <a:solidFill>
                <a:srgbClr val="000000"/>
              </a:solidFill>
              <a:effectLst/>
              <a:uFillTx/>
              <a:latin typeface="Arial"/>
            </a:endParaRPr>
          </a:p>
        </p:txBody>
      </p:sp>
      <p:sp>
        <p:nvSpPr>
          <p:cNvPr id="346" name="PlaceHolder 3"/>
          <p:cNvSpPr>
            <a:spLocks noGrp="1"/>
          </p:cNvSpPr>
          <p:nvPr>
            <p:ph type="sldNum" idx="6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078F961-E0C8-4C7A-A615-9B1405B548C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47" name="Google Shape;377;p39"/>
          <p:cNvGrpSpPr/>
          <p:nvPr/>
        </p:nvGrpSpPr>
        <p:grpSpPr>
          <a:xfrm>
            <a:off x="441720" y="4585320"/>
            <a:ext cx="1605600" cy="606240"/>
            <a:chOff x="441720" y="4585320"/>
            <a:chExt cx="1605600" cy="606240"/>
          </a:xfrm>
        </p:grpSpPr>
        <p:sp>
          <p:nvSpPr>
            <p:cNvPr id="348" name="Google Shape;378;p39"/>
            <p:cNvSpPr/>
            <p:nvPr/>
          </p:nvSpPr>
          <p:spPr>
            <a:xfrm>
              <a:off x="488160" y="4624560"/>
              <a:ext cx="1559160" cy="56700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9" name="Google Shape;379;p39"/>
            <p:cNvSpPr/>
            <p:nvPr/>
          </p:nvSpPr>
          <p:spPr>
            <a:xfrm>
              <a:off x="441720" y="4585320"/>
              <a:ext cx="1559160" cy="56700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600" strike="noStrike" u="none">
                  <a:solidFill>
                    <a:srgbClr val="000000"/>
                  </a:solidFill>
                  <a:effectLst/>
                  <a:uFillTx/>
                  <a:latin typeface="Arial"/>
                  <a:ea typeface="Arial"/>
                </a:rPr>
                <a:t>mysql-read</a:t>
              </a:r>
              <a:endParaRPr b="0" lang="en-US" sz="1600" strike="noStrike" u="none">
                <a:solidFill>
                  <a:srgbClr val="000000"/>
                </a:solidFill>
                <a:effectLst/>
                <a:uFillTx/>
                <a:latin typeface="Arial"/>
              </a:endParaRPr>
            </a:p>
          </p:txBody>
        </p:sp>
      </p:grpSp>
      <p:sp>
        <p:nvSpPr>
          <p:cNvPr id="350"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Example Architecture</a:t>
            </a:r>
            <a:endParaRPr b="0" lang="en-US" sz="3200" strike="noStrike" u="none">
              <a:solidFill>
                <a:srgbClr val="000000"/>
              </a:solidFill>
              <a:effectLst/>
              <a:uFillTx/>
              <a:latin typeface="Arial"/>
            </a:endParaRPr>
          </a:p>
        </p:txBody>
      </p:sp>
      <p:sp>
        <p:nvSpPr>
          <p:cNvPr id="351" name="PlaceHolder 2"/>
          <p:cNvSpPr>
            <a:spLocks noGrp="1"/>
          </p:cNvSpPr>
          <p:nvPr>
            <p:ph type="sldNum" idx="6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12E076E-1362-4041-B6EC-D4FABB1E5B3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52" name="Google Shape;382;p39"/>
          <p:cNvSpPr/>
          <p:nvPr/>
        </p:nvSpPr>
        <p:spPr>
          <a:xfrm>
            <a:off x="2845440" y="1580400"/>
            <a:ext cx="3274200" cy="462420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StatefulSet</a:t>
            </a:r>
            <a:endParaRPr b="0" lang="en-US" sz="1800" strike="noStrike" u="none">
              <a:solidFill>
                <a:srgbClr val="000000"/>
              </a:solidFill>
              <a:effectLst/>
              <a:uFillTx/>
              <a:latin typeface="Arial"/>
            </a:endParaRPr>
          </a:p>
        </p:txBody>
      </p:sp>
      <p:sp>
        <p:nvSpPr>
          <p:cNvPr id="353" name="Google Shape;383;p39"/>
          <p:cNvSpPr/>
          <p:nvPr/>
        </p:nvSpPr>
        <p:spPr>
          <a:xfrm flipH="1" rot="10800000">
            <a:off x="2002320" y="3111840"/>
            <a:ext cx="1098000" cy="1757520"/>
          </a:xfrm>
          <a:custGeom>
            <a:avLst/>
            <a:gdLst>
              <a:gd name="textAreaLeft" fmla="*/ 360 w 1098000"/>
              <a:gd name="textAreaRight" fmla="*/ 1098720 w 1098000"/>
              <a:gd name="textAreaTop" fmla="*/ 0 h 1757520"/>
              <a:gd name="textAreaBottom" fmla="*/ 1757880 h 175752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4" name="Google Shape;385;p39"/>
          <p:cNvSpPr/>
          <p:nvPr/>
        </p:nvSpPr>
        <p:spPr>
          <a:xfrm>
            <a:off x="2001960" y="4869360"/>
            <a:ext cx="1108800" cy="182520"/>
          </a:xfrm>
          <a:custGeom>
            <a:avLst/>
            <a:gdLst>
              <a:gd name="textAreaLeft" fmla="*/ 0 w 1108800"/>
              <a:gd name="textAreaRight" fmla="*/ 1109160 w 1108800"/>
              <a:gd name="textAreaTop" fmla="*/ 0 h 182520"/>
              <a:gd name="textAreaBottom" fmla="*/ 182880 h 18252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5" name="Google Shape;387;p39"/>
          <p:cNvSpPr/>
          <p:nvPr/>
        </p:nvSpPr>
        <p:spPr>
          <a:xfrm rot="10800000">
            <a:off x="5885640" y="5053680"/>
            <a:ext cx="1232280" cy="514440"/>
          </a:xfrm>
          <a:custGeom>
            <a:avLst/>
            <a:gdLst>
              <a:gd name="textAreaLeft" fmla="*/ 0 w 1232280"/>
              <a:gd name="textAreaRight" fmla="*/ 1232640 w 1232280"/>
              <a:gd name="textAreaTop" fmla="*/ 0 h 514440"/>
              <a:gd name="textAreaBottom" fmla="*/ 514800 h 51444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6" name="Google Shape;389;p39"/>
          <p:cNvSpPr/>
          <p:nvPr/>
        </p:nvSpPr>
        <p:spPr>
          <a:xfrm flipH="1">
            <a:off x="5871960" y="2194200"/>
            <a:ext cx="1240920" cy="915480"/>
          </a:xfrm>
          <a:custGeom>
            <a:avLst/>
            <a:gdLst>
              <a:gd name="textAreaLeft" fmla="*/ -360 w 1240920"/>
              <a:gd name="textAreaRight" fmla="*/ 1240920 w 1240920"/>
              <a:gd name="textAreaTop" fmla="*/ 0 h 915480"/>
              <a:gd name="textAreaBottom" fmla="*/ 915840 h 91548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7" name="Google Shape;391;p39"/>
          <p:cNvSpPr/>
          <p:nvPr/>
        </p:nvSpPr>
        <p:spPr>
          <a:xfrm rot="10800000">
            <a:off x="5874120" y="3111840"/>
            <a:ext cx="1248480" cy="781200"/>
          </a:xfrm>
          <a:custGeom>
            <a:avLst/>
            <a:gdLst>
              <a:gd name="textAreaLeft" fmla="*/ 0 w 1248480"/>
              <a:gd name="textAreaRight" fmla="*/ 1248840 w 1248480"/>
              <a:gd name="textAreaTop" fmla="*/ 0 h 781200"/>
              <a:gd name="textAreaBottom" fmla="*/ 781560 h 78120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8" name="Google Shape;393;p39"/>
          <p:cNvSpPr/>
          <p:nvPr/>
        </p:nvSpPr>
        <p:spPr>
          <a:xfrm flipH="1">
            <a:off x="5882760" y="3893040"/>
            <a:ext cx="1237320" cy="1158840"/>
          </a:xfrm>
          <a:custGeom>
            <a:avLst/>
            <a:gdLst>
              <a:gd name="textAreaLeft" fmla="*/ -360 w 1237320"/>
              <a:gd name="textAreaRight" fmla="*/ 1237320 w 1237320"/>
              <a:gd name="textAreaTop" fmla="*/ 0 h 1158840"/>
              <a:gd name="textAreaBottom" fmla="*/ 1159200 h 115884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9" name="Google Shape;394;p39"/>
          <p:cNvSpPr/>
          <p:nvPr/>
        </p:nvSpPr>
        <p:spPr>
          <a:xfrm>
            <a:off x="1911600" y="2418840"/>
            <a:ext cx="932760" cy="1473120"/>
          </a:xfrm>
          <a:custGeom>
            <a:avLst/>
            <a:gdLst>
              <a:gd name="textAreaLeft" fmla="*/ 0 w 932760"/>
              <a:gd name="textAreaRight" fmla="*/ 933120 w 932760"/>
              <a:gd name="textAreaTop" fmla="*/ 0 h 1473120"/>
              <a:gd name="textAreaBottom" fmla="*/ 1473480 h 1473120"/>
            </a:gdLst>
            <a:ahLst/>
            <a:cxnLst/>
            <a:rect l="textAreaLeft" t="textAreaTop" r="textAreaRight" b="textAreaBottom"/>
            <a:pathLst>
              <a:path w="21600" h="21600">
                <a:moveTo>
                  <a:pt x="0" y="0"/>
                </a:moveTo>
                <a:lnTo>
                  <a:pt x="21600" y="21600"/>
                </a:lnTo>
              </a:path>
            </a:pathLst>
          </a:custGeom>
          <a:noFill/>
          <a:ln w="19050">
            <a:solidFill>
              <a:srgbClr val="44546a"/>
            </a:solidFill>
            <a:prstDash val="dash"/>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60" name="Google Shape;396;p39"/>
          <p:cNvGrpSpPr/>
          <p:nvPr/>
        </p:nvGrpSpPr>
        <p:grpSpPr>
          <a:xfrm>
            <a:off x="10110240" y="5298120"/>
            <a:ext cx="1684080" cy="1063080"/>
            <a:chOff x="10110240" y="5298120"/>
            <a:chExt cx="1684080" cy="1063080"/>
          </a:xfrm>
        </p:grpSpPr>
        <p:sp>
          <p:nvSpPr>
            <p:cNvPr id="361" name="Google Shape;397;p39"/>
            <p:cNvSpPr/>
            <p:nvPr/>
          </p:nvSpPr>
          <p:spPr>
            <a:xfrm>
              <a:off x="10110240" y="5298120"/>
              <a:ext cx="1684080" cy="103896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Volume</a:t>
              </a:r>
              <a:endParaRPr b="0" lang="en-US" sz="1800" strike="noStrike" u="none">
                <a:solidFill>
                  <a:srgbClr val="000000"/>
                </a:solidFill>
                <a:effectLst/>
                <a:uFillTx/>
                <a:latin typeface="Arial"/>
              </a:endParaRPr>
            </a:p>
          </p:txBody>
        </p:sp>
        <p:sp>
          <p:nvSpPr>
            <p:cNvPr id="362" name="Google Shape;398;p39"/>
            <p:cNvSpPr/>
            <p:nvPr/>
          </p:nvSpPr>
          <p:spPr>
            <a:xfrm>
              <a:off x="10620000" y="5943600"/>
              <a:ext cx="664200" cy="417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i="1" lang="en-US" sz="1400" strike="noStrike" u="none">
                  <a:solidFill>
                    <a:srgbClr val="000000"/>
                  </a:solidFill>
                  <a:effectLst/>
                  <a:uFillTx/>
                  <a:latin typeface="Arial"/>
                  <a:ea typeface="Arial"/>
                </a:rPr>
                <a:t>10GB</a:t>
              </a:r>
              <a:endParaRPr b="0" lang="en-US" sz="1400" strike="noStrike" u="none">
                <a:solidFill>
                  <a:srgbClr val="000000"/>
                </a:solidFill>
                <a:effectLst/>
                <a:uFillTx/>
                <a:latin typeface="Arial"/>
              </a:endParaRPr>
            </a:p>
          </p:txBody>
        </p:sp>
      </p:grpSp>
      <p:grpSp>
        <p:nvGrpSpPr>
          <p:cNvPr id="363" name="Google Shape;399;p39"/>
          <p:cNvGrpSpPr/>
          <p:nvPr/>
        </p:nvGrpSpPr>
        <p:grpSpPr>
          <a:xfrm>
            <a:off x="9459360" y="1328400"/>
            <a:ext cx="2630520" cy="1174680"/>
            <a:chOff x="9459360" y="1328400"/>
            <a:chExt cx="2630520" cy="1174680"/>
          </a:xfrm>
        </p:grpSpPr>
        <p:sp>
          <p:nvSpPr>
            <p:cNvPr id="364" name="Google Shape;400;p39"/>
            <p:cNvSpPr/>
            <p:nvPr/>
          </p:nvSpPr>
          <p:spPr>
            <a:xfrm>
              <a:off x="9535680" y="1404720"/>
              <a:ext cx="2554200" cy="10983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5" name="Google Shape;401;p39"/>
            <p:cNvSpPr/>
            <p:nvPr/>
          </p:nvSpPr>
          <p:spPr>
            <a:xfrm>
              <a:off x="9459360" y="1328400"/>
              <a:ext cx="2554200" cy="1098360"/>
            </a:xfrm>
            <a:prstGeom prst="roundRect">
              <a:avLst>
                <a:gd name="adj" fmla="val 16667"/>
              </a:avLst>
            </a:prstGeom>
            <a:solidFill>
              <a:srgbClr val="8e7cc3"/>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CronJob</a:t>
              </a:r>
              <a:endParaRPr b="0" lang="en-US" sz="1800" strike="noStrike" u="none">
                <a:solidFill>
                  <a:srgbClr val="ffffff"/>
                </a:solidFill>
                <a:effectLst/>
                <a:uFillTx/>
                <a:latin typeface="Arial"/>
              </a:endParaRPr>
            </a:p>
          </p:txBody>
        </p:sp>
      </p:grpSp>
      <p:grpSp>
        <p:nvGrpSpPr>
          <p:cNvPr id="366" name="Google Shape;402;p39"/>
          <p:cNvGrpSpPr/>
          <p:nvPr/>
        </p:nvGrpSpPr>
        <p:grpSpPr>
          <a:xfrm>
            <a:off x="10303920" y="4307400"/>
            <a:ext cx="1287000" cy="629280"/>
            <a:chOff x="10303920" y="4307400"/>
            <a:chExt cx="1287000" cy="629280"/>
          </a:xfrm>
        </p:grpSpPr>
        <p:sp>
          <p:nvSpPr>
            <p:cNvPr id="367" name="Google Shape;403;p39"/>
            <p:cNvSpPr/>
            <p:nvPr/>
          </p:nvSpPr>
          <p:spPr>
            <a:xfrm>
              <a:off x="10350000" y="4348440"/>
              <a:ext cx="1240920" cy="588240"/>
            </a:xfrm>
            <a:prstGeom prst="roundRect">
              <a:avLst>
                <a:gd name="adj" fmla="val 16667"/>
              </a:avLst>
            </a:prstGeom>
            <a:gradFill rotWithShape="0">
              <a:gsLst>
                <a:gs pos="0">
                  <a:srgbClr val="d9d9d9"/>
                </a:gs>
                <a:gs pos="100000">
                  <a:srgbClr val="f3f3f3"/>
                </a:gs>
              </a:gsLst>
              <a:lin ang="2700000"/>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68" name="Google Shape;404;p39"/>
            <p:cNvSpPr/>
            <p:nvPr/>
          </p:nvSpPr>
          <p:spPr>
            <a:xfrm>
              <a:off x="10303920" y="4307400"/>
              <a:ext cx="1240920" cy="5882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Pod</a:t>
              </a:r>
              <a:endParaRPr b="0" lang="en-US" sz="1800" strike="noStrike" u="none">
                <a:solidFill>
                  <a:srgbClr val="000000"/>
                </a:solidFill>
                <a:effectLst/>
                <a:uFillTx/>
                <a:latin typeface="Arial"/>
              </a:endParaRPr>
            </a:p>
          </p:txBody>
        </p:sp>
      </p:grpSp>
      <p:sp>
        <p:nvSpPr>
          <p:cNvPr id="369" name="Google Shape;405;p39"/>
          <p:cNvSpPr/>
          <p:nvPr/>
        </p:nvSpPr>
        <p:spPr>
          <a:xfrm>
            <a:off x="10924920" y="4896720"/>
            <a:ext cx="27000" cy="400320"/>
          </a:xfrm>
          <a:custGeom>
            <a:avLst/>
            <a:gdLst>
              <a:gd name="textAreaLeft" fmla="*/ 0 w 27000"/>
              <a:gd name="textAreaRight" fmla="*/ 27360 w 27000"/>
              <a:gd name="textAreaTop" fmla="*/ 0 h 400320"/>
              <a:gd name="textAreaBottom" fmla="*/ 400680 h 40032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0" name="Google Shape;406;p39"/>
          <p:cNvSpPr/>
          <p:nvPr/>
        </p:nvSpPr>
        <p:spPr>
          <a:xfrm>
            <a:off x="10568160" y="2427840"/>
            <a:ext cx="870120" cy="629280"/>
          </a:xfrm>
          <a:custGeom>
            <a:avLst/>
            <a:gdLst>
              <a:gd name="textAreaLeft" fmla="*/ 0 w 870120"/>
              <a:gd name="textAreaRight" fmla="*/ 870480 w 870120"/>
              <a:gd name="textAreaTop" fmla="*/ 0 h 629280"/>
              <a:gd name="textAreaBottom" fmla="*/ 629640 h 629280"/>
            </a:gdLst>
            <a:ahLst/>
            <a:cxnLst/>
            <a:rect l="textAreaLeft" t="textAreaTop" r="textAreaRight" b="textAreaBottom"/>
            <a:pathLst>
              <a:path w="34841" h="24090">
                <a:moveTo>
                  <a:pt x="8638" y="0"/>
                </a:moveTo>
                <a:cubicBezTo>
                  <a:pt x="12977" y="1425"/>
                  <a:pt x="36031" y="6605"/>
                  <a:pt x="34671" y="8548"/>
                </a:cubicBezTo>
                <a:cubicBezTo>
                  <a:pt x="33311" y="10491"/>
                  <a:pt x="3586" y="9066"/>
                  <a:pt x="478" y="11656"/>
                </a:cubicBezTo>
                <a:cubicBezTo>
                  <a:pt x="-2630" y="14246"/>
                  <a:pt x="13431" y="22018"/>
                  <a:pt x="16021" y="24090"/>
                </a:cubicBezTo>
              </a:path>
            </a:pathLst>
          </a:custGeom>
          <a:noFill/>
          <a:ln w="19050">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71" name="Google Shape;407;p39"/>
          <p:cNvGrpSpPr/>
          <p:nvPr/>
        </p:nvGrpSpPr>
        <p:grpSpPr>
          <a:xfrm>
            <a:off x="10053360" y="2498040"/>
            <a:ext cx="444960" cy="436680"/>
            <a:chOff x="10053360" y="2498040"/>
            <a:chExt cx="444960" cy="436680"/>
          </a:xfrm>
        </p:grpSpPr>
        <p:sp>
          <p:nvSpPr>
            <p:cNvPr id="372" name="Google Shape;408;p39"/>
            <p:cNvSpPr/>
            <p:nvPr/>
          </p:nvSpPr>
          <p:spPr>
            <a:xfrm>
              <a:off x="10053360" y="2498040"/>
              <a:ext cx="444960" cy="436680"/>
            </a:xfrm>
            <a:prstGeom prst="ellipse">
              <a:avLst/>
            </a:prstGeom>
            <a:solidFill>
              <a:srgbClr val="f3f3f3"/>
            </a:solidFill>
            <a:ln w="28575">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3" name="Google Shape;409;p39"/>
            <p:cNvSpPr/>
            <p:nvPr/>
          </p:nvSpPr>
          <p:spPr>
            <a:xfrm flipH="1" rot="10800000">
              <a:off x="10119240" y="2739960"/>
              <a:ext cx="158400" cy="131760"/>
            </a:xfrm>
            <a:custGeom>
              <a:avLst/>
              <a:gdLst>
                <a:gd name="textAreaLeft" fmla="*/ 360 w 158400"/>
                <a:gd name="textAreaRight" fmla="*/ 159120 w 158400"/>
                <a:gd name="textAreaTop" fmla="*/ 0 h 131760"/>
                <a:gd name="textAreaBottom" fmla="*/ 132120 h 131760"/>
              </a:gdLst>
              <a:ahLst/>
              <a:cxnLst/>
              <a:rect l="textAreaLeft" t="textAreaTop" r="textAreaRight" b="textAreaBottom"/>
              <a:pathLst>
                <a:path w="21600" h="21600">
                  <a:moveTo>
                    <a:pt x="0" y="0"/>
                  </a:moveTo>
                  <a:lnTo>
                    <a:pt x="21600" y="21600"/>
                  </a:lnTo>
                </a:path>
              </a:pathLst>
            </a:custGeom>
            <a:noFill/>
            <a:ln w="9525">
              <a:solidFill>
                <a:srgbClr val="000000"/>
              </a:solidFill>
              <a:round/>
              <a:head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4" name="Google Shape;410;p39"/>
            <p:cNvSpPr/>
            <p:nvPr/>
          </p:nvSpPr>
          <p:spPr>
            <a:xfrm rot="10800000">
              <a:off x="10277640" y="2498760"/>
              <a:ext cx="1080" cy="235080"/>
            </a:xfrm>
            <a:custGeom>
              <a:avLst/>
              <a:gdLst>
                <a:gd name="textAreaLeft" fmla="*/ 0 w 1080"/>
                <a:gd name="textAreaRight" fmla="*/ 1440 w 1080"/>
                <a:gd name="textAreaTop" fmla="*/ 0 h 235080"/>
                <a:gd name="textAreaBottom" fmla="*/ 235440 h 235080"/>
              </a:gdLst>
              <a:ahLst/>
              <a:cxnLst/>
              <a:rect l="textAreaLeft" t="textAreaTop" r="textAreaRight" b="textAreaBottom"/>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grpSp>
        <p:nvGrpSpPr>
          <p:cNvPr id="375" name="Google Shape;411;p39"/>
          <p:cNvGrpSpPr/>
          <p:nvPr/>
        </p:nvGrpSpPr>
        <p:grpSpPr>
          <a:xfrm>
            <a:off x="9939960" y="3048480"/>
            <a:ext cx="1668960" cy="745200"/>
            <a:chOff x="9939960" y="3048480"/>
            <a:chExt cx="1668960" cy="745200"/>
          </a:xfrm>
        </p:grpSpPr>
        <p:sp>
          <p:nvSpPr>
            <p:cNvPr id="376" name="Google Shape;412;p39"/>
            <p:cNvSpPr/>
            <p:nvPr/>
          </p:nvSpPr>
          <p:spPr>
            <a:xfrm>
              <a:off x="9988200" y="3096720"/>
              <a:ext cx="1620720" cy="6969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7" name="Google Shape;413;p39"/>
            <p:cNvSpPr/>
            <p:nvPr/>
          </p:nvSpPr>
          <p:spPr>
            <a:xfrm>
              <a:off x="9939960" y="3048480"/>
              <a:ext cx="1620720" cy="696960"/>
            </a:xfrm>
            <a:prstGeom prst="roundRect">
              <a:avLst>
                <a:gd name="adj" fmla="val 16667"/>
              </a:avLst>
            </a:prstGeom>
            <a:solidFill>
              <a:srgbClr val="a4a3d4"/>
            </a:solidFill>
            <a:ln w="19050">
              <a:solidFill>
                <a:srgbClr val="8e7cc3"/>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grpSp>
        <p:nvGrpSpPr>
          <p:cNvPr id="378" name="Google Shape;414;p39"/>
          <p:cNvGrpSpPr/>
          <p:nvPr/>
        </p:nvGrpSpPr>
        <p:grpSpPr>
          <a:xfrm>
            <a:off x="10168560" y="3200760"/>
            <a:ext cx="1668960" cy="745200"/>
            <a:chOff x="10168560" y="3200760"/>
            <a:chExt cx="1668960" cy="745200"/>
          </a:xfrm>
        </p:grpSpPr>
        <p:sp>
          <p:nvSpPr>
            <p:cNvPr id="379" name="Google Shape;415;p39"/>
            <p:cNvSpPr/>
            <p:nvPr/>
          </p:nvSpPr>
          <p:spPr>
            <a:xfrm>
              <a:off x="10216800" y="3249000"/>
              <a:ext cx="1620720" cy="6969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0" name="Google Shape;416;p39"/>
            <p:cNvSpPr/>
            <p:nvPr/>
          </p:nvSpPr>
          <p:spPr>
            <a:xfrm>
              <a:off x="10168560" y="3200760"/>
              <a:ext cx="1620720" cy="696960"/>
            </a:xfrm>
            <a:prstGeom prst="roundRect">
              <a:avLst>
                <a:gd name="adj" fmla="val 16667"/>
              </a:avLst>
            </a:prstGeom>
            <a:solidFill>
              <a:srgbClr val="a4a3d4"/>
            </a:solidFill>
            <a:ln w="19050">
              <a:solidFill>
                <a:srgbClr val="8e7cc3"/>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Job</a:t>
              </a:r>
              <a:endParaRPr b="0" lang="en-US" sz="1800" strike="noStrike" u="none">
                <a:solidFill>
                  <a:srgbClr val="000000"/>
                </a:solidFill>
                <a:effectLst/>
                <a:uFillTx/>
                <a:latin typeface="Arial"/>
              </a:endParaRPr>
            </a:p>
          </p:txBody>
        </p:sp>
      </p:grpSp>
      <p:sp>
        <p:nvSpPr>
          <p:cNvPr id="381" name="Google Shape;417;p39"/>
          <p:cNvSpPr/>
          <p:nvPr/>
        </p:nvSpPr>
        <p:spPr>
          <a:xfrm flipH="1">
            <a:off x="10923480" y="3898800"/>
            <a:ext cx="53640" cy="407880"/>
          </a:xfrm>
          <a:custGeom>
            <a:avLst/>
            <a:gdLst>
              <a:gd name="textAreaLeft" fmla="*/ -360 w 53640"/>
              <a:gd name="textAreaRight" fmla="*/ 53640 w 53640"/>
              <a:gd name="textAreaTop" fmla="*/ 0 h 407880"/>
              <a:gd name="textAreaBottom" fmla="*/ 408240 h 407880"/>
            </a:gdLst>
            <a:ahLst/>
            <a:cxnLst/>
            <a:rect l="textAreaLeft" t="textAreaTop" r="textAreaRight" b="textAreaBottom"/>
            <a:pathLst>
              <a:path w="21600" h="21600">
                <a:moveTo>
                  <a:pt x="0" y="0"/>
                </a:moveTo>
                <a:lnTo>
                  <a:pt x="21600" y="21600"/>
                </a:lnTo>
              </a:path>
            </a:pathLst>
          </a:custGeom>
          <a:noFill/>
          <a:ln w="19050">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2" name="Google Shape;392;p39"/>
          <p:cNvSpPr/>
          <p:nvPr/>
        </p:nvSpPr>
        <p:spPr>
          <a:xfrm>
            <a:off x="7122600" y="3582000"/>
            <a:ext cx="1669320" cy="620640"/>
          </a:xfrm>
          <a:prstGeom prst="flowChartMagneticDisk">
            <a:avLst/>
          </a:prstGeom>
          <a:solidFill>
            <a:srgbClr val="76a5af"/>
          </a:solidFill>
          <a:ln w="19050">
            <a:solidFill>
              <a:srgbClr val="45818e"/>
            </a:solidFill>
            <a:round/>
          </a:ln>
        </p:spPr>
        <p:style>
          <a:lnRef idx="0"/>
          <a:fillRef idx="0"/>
          <a:effectRef idx="0"/>
          <a:fontRef idx="minor"/>
        </p:style>
        <p:txBody>
          <a:bodyPr lIns="90000" rIns="90000" tIns="155160" bIns="155160" anchor="ctr">
            <a:noAutofit/>
          </a:bodyPr>
          <a:p>
            <a:pPr algn="ctr">
              <a:lnSpc>
                <a:spcPct val="100000"/>
              </a:lnSpc>
              <a:tabLst>
                <a:tab algn="l" pos="0"/>
              </a:tabLst>
            </a:pPr>
            <a:r>
              <a:rPr b="1" lang="en-US" sz="1800" strike="noStrike" u="none">
                <a:solidFill>
                  <a:srgbClr val="000000"/>
                </a:solidFill>
                <a:effectLst/>
                <a:uFillTx/>
                <a:latin typeface="Arial"/>
                <a:ea typeface="Arial"/>
              </a:rPr>
              <a:t>ConfigMap</a:t>
            </a:r>
            <a:endParaRPr b="0" lang="en-US" sz="1800" strike="noStrike" u="none">
              <a:solidFill>
                <a:srgbClr val="ffffff"/>
              </a:solidFill>
              <a:effectLst/>
              <a:uFillTx/>
              <a:latin typeface="Arial"/>
            </a:endParaRPr>
          </a:p>
        </p:txBody>
      </p:sp>
      <p:grpSp>
        <p:nvGrpSpPr>
          <p:cNvPr id="383" name="Google Shape;418;p39"/>
          <p:cNvGrpSpPr/>
          <p:nvPr/>
        </p:nvGrpSpPr>
        <p:grpSpPr>
          <a:xfrm>
            <a:off x="7117920" y="5047920"/>
            <a:ext cx="1684080" cy="1063080"/>
            <a:chOff x="7117920" y="5047920"/>
            <a:chExt cx="1684080" cy="1063080"/>
          </a:xfrm>
        </p:grpSpPr>
        <p:sp>
          <p:nvSpPr>
            <p:cNvPr id="384" name="Google Shape;388;p39"/>
            <p:cNvSpPr/>
            <p:nvPr/>
          </p:nvSpPr>
          <p:spPr>
            <a:xfrm>
              <a:off x="7117920" y="5047920"/>
              <a:ext cx="1684080" cy="103896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Volume</a:t>
              </a:r>
              <a:endParaRPr b="0" lang="en-US" sz="1800" strike="noStrike" u="none">
                <a:solidFill>
                  <a:srgbClr val="000000"/>
                </a:solidFill>
                <a:effectLst/>
                <a:uFillTx/>
                <a:latin typeface="Arial"/>
              </a:endParaRPr>
            </a:p>
          </p:txBody>
        </p:sp>
        <p:sp>
          <p:nvSpPr>
            <p:cNvPr id="385" name="Google Shape;419;p39"/>
            <p:cNvSpPr/>
            <p:nvPr/>
          </p:nvSpPr>
          <p:spPr>
            <a:xfrm>
              <a:off x="7627680" y="5693400"/>
              <a:ext cx="664200" cy="417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i="1" lang="en-US" sz="1400" strike="noStrike" u="none">
                  <a:solidFill>
                    <a:srgbClr val="000000"/>
                  </a:solidFill>
                  <a:effectLst/>
                  <a:uFillTx/>
                  <a:latin typeface="Arial"/>
                  <a:ea typeface="Arial"/>
                </a:rPr>
                <a:t>10GB</a:t>
              </a:r>
              <a:endParaRPr b="0" lang="en-US" sz="1400" strike="noStrike" u="none">
                <a:solidFill>
                  <a:srgbClr val="000000"/>
                </a:solidFill>
                <a:effectLst/>
                <a:uFillTx/>
                <a:latin typeface="Arial"/>
              </a:endParaRPr>
            </a:p>
          </p:txBody>
        </p:sp>
      </p:grpSp>
      <p:grpSp>
        <p:nvGrpSpPr>
          <p:cNvPr id="386" name="Google Shape;420;p39"/>
          <p:cNvGrpSpPr/>
          <p:nvPr/>
        </p:nvGrpSpPr>
        <p:grpSpPr>
          <a:xfrm>
            <a:off x="7115400" y="1674000"/>
            <a:ext cx="1684080" cy="1063080"/>
            <a:chOff x="7115400" y="1674000"/>
            <a:chExt cx="1684080" cy="1063080"/>
          </a:xfrm>
        </p:grpSpPr>
        <p:sp>
          <p:nvSpPr>
            <p:cNvPr id="387" name="Google Shape;390;p39"/>
            <p:cNvSpPr/>
            <p:nvPr/>
          </p:nvSpPr>
          <p:spPr>
            <a:xfrm>
              <a:off x="7115400" y="1674000"/>
              <a:ext cx="1684080" cy="103896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Volume</a:t>
              </a:r>
              <a:endParaRPr b="0" lang="en-US" sz="1800" strike="noStrike" u="none">
                <a:solidFill>
                  <a:srgbClr val="000000"/>
                </a:solidFill>
                <a:effectLst/>
                <a:uFillTx/>
                <a:latin typeface="Arial"/>
              </a:endParaRPr>
            </a:p>
          </p:txBody>
        </p:sp>
        <p:sp>
          <p:nvSpPr>
            <p:cNvPr id="388" name="Google Shape;421;p39"/>
            <p:cNvSpPr/>
            <p:nvPr/>
          </p:nvSpPr>
          <p:spPr>
            <a:xfrm>
              <a:off x="7625160" y="2319480"/>
              <a:ext cx="664200" cy="417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i="1" lang="en-US" sz="1400" strike="noStrike" u="none">
                  <a:solidFill>
                    <a:srgbClr val="000000"/>
                  </a:solidFill>
                  <a:effectLst/>
                  <a:uFillTx/>
                  <a:latin typeface="Arial"/>
                  <a:ea typeface="Arial"/>
                </a:rPr>
                <a:t>10GB</a:t>
              </a:r>
              <a:endParaRPr b="0" lang="en-US" sz="1400" strike="noStrike" u="none">
                <a:solidFill>
                  <a:srgbClr val="000000"/>
                </a:solidFill>
                <a:effectLst/>
                <a:uFillTx/>
                <a:latin typeface="Arial"/>
              </a:endParaRPr>
            </a:p>
          </p:txBody>
        </p:sp>
      </p:grpSp>
      <p:grpSp>
        <p:nvGrpSpPr>
          <p:cNvPr id="389" name="Google Shape;422;p39"/>
          <p:cNvGrpSpPr/>
          <p:nvPr/>
        </p:nvGrpSpPr>
        <p:grpSpPr>
          <a:xfrm>
            <a:off x="537840" y="2194200"/>
            <a:ext cx="1413720" cy="479520"/>
            <a:chOff x="537840" y="2194200"/>
            <a:chExt cx="1413720" cy="479520"/>
          </a:xfrm>
        </p:grpSpPr>
        <p:sp>
          <p:nvSpPr>
            <p:cNvPr id="390" name="Google Shape;423;p39"/>
            <p:cNvSpPr/>
            <p:nvPr/>
          </p:nvSpPr>
          <p:spPr>
            <a:xfrm>
              <a:off x="578880" y="2225160"/>
              <a:ext cx="1372680" cy="4485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1" name="Google Shape;395;p39"/>
            <p:cNvSpPr/>
            <p:nvPr/>
          </p:nvSpPr>
          <p:spPr>
            <a:xfrm>
              <a:off x="537840" y="2194200"/>
              <a:ext cx="1372680" cy="4485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600" strike="noStrike" u="none">
                  <a:solidFill>
                    <a:srgbClr val="000000"/>
                  </a:solidFill>
                  <a:effectLst/>
                  <a:uFillTx/>
                  <a:latin typeface="Arial"/>
                  <a:ea typeface="Arial"/>
                </a:rPr>
                <a:t>mysql</a:t>
              </a:r>
              <a:endParaRPr b="0" lang="en-US" sz="1600" strike="noStrike" u="none">
                <a:solidFill>
                  <a:srgbClr val="000000"/>
                </a:solidFill>
                <a:effectLst/>
                <a:uFillTx/>
                <a:latin typeface="Arial"/>
              </a:endParaRPr>
            </a:p>
          </p:txBody>
        </p:sp>
      </p:grpSp>
      <p:grpSp>
        <p:nvGrpSpPr>
          <p:cNvPr id="392" name="Google Shape;424;p39"/>
          <p:cNvGrpSpPr/>
          <p:nvPr/>
        </p:nvGrpSpPr>
        <p:grpSpPr>
          <a:xfrm>
            <a:off x="3101040" y="2312640"/>
            <a:ext cx="2771280" cy="1595160"/>
            <a:chOff x="3101040" y="2312640"/>
            <a:chExt cx="2771280" cy="1595160"/>
          </a:xfrm>
        </p:grpSpPr>
        <p:grpSp>
          <p:nvGrpSpPr>
            <p:cNvPr id="393" name="Google Shape;425;p39"/>
            <p:cNvGrpSpPr/>
            <p:nvPr/>
          </p:nvGrpSpPr>
          <p:grpSpPr>
            <a:xfrm>
              <a:off x="3101040" y="2312640"/>
              <a:ext cx="2771280" cy="1595160"/>
              <a:chOff x="3101040" y="2312640"/>
              <a:chExt cx="2771280" cy="1595160"/>
            </a:xfrm>
          </p:grpSpPr>
          <p:grpSp>
            <p:nvGrpSpPr>
              <p:cNvPr id="394" name="Google Shape;426;p39"/>
              <p:cNvGrpSpPr/>
              <p:nvPr/>
            </p:nvGrpSpPr>
            <p:grpSpPr>
              <a:xfrm>
                <a:off x="3101040" y="2312640"/>
                <a:ext cx="2771280" cy="1595160"/>
                <a:chOff x="3101040" y="2312640"/>
                <a:chExt cx="2771280" cy="1595160"/>
              </a:xfrm>
            </p:grpSpPr>
            <p:sp>
              <p:nvSpPr>
                <p:cNvPr id="395" name="Google Shape;384;p39"/>
                <p:cNvSpPr/>
                <p:nvPr/>
              </p:nvSpPr>
              <p:spPr>
                <a:xfrm>
                  <a:off x="3101040" y="2312640"/>
                  <a:ext cx="2771280" cy="159516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96" name="Google Shape;427;p39"/>
                <p:cNvSpPr/>
                <p:nvPr/>
              </p:nvSpPr>
              <p:spPr>
                <a:xfrm>
                  <a:off x="3456360" y="2655000"/>
                  <a:ext cx="2017800" cy="3128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156600" bIns="156600" anchor="ctr">
                  <a:noAutofit/>
                </a:bodyPr>
                <a:p>
                  <a:pPr algn="ctr">
                    <a:lnSpc>
                      <a:spcPct val="100000"/>
                    </a:lnSpc>
                    <a:tabLst>
                      <a:tab algn="l" pos="0"/>
                    </a:tabLst>
                  </a:pPr>
                  <a:r>
                    <a:rPr b="1" lang="en-US" sz="1400" strike="noStrike" u="none">
                      <a:solidFill>
                        <a:srgbClr val="000000"/>
                      </a:solidFill>
                      <a:effectLst/>
                      <a:uFillTx/>
                      <a:latin typeface="Arial"/>
                      <a:ea typeface="Arial"/>
                    </a:rPr>
                    <a:t>init</a:t>
                  </a:r>
                  <a:endParaRPr b="0" lang="en-US" sz="1400" strike="noStrike" u="none">
                    <a:solidFill>
                      <a:srgbClr val="ffffff"/>
                    </a:solidFill>
                    <a:effectLst/>
                    <a:uFillTx/>
                    <a:latin typeface="Arial"/>
                  </a:endParaRPr>
                </a:p>
              </p:txBody>
            </p:sp>
          </p:grpSp>
          <p:sp>
            <p:nvSpPr>
              <p:cNvPr id="397" name="Google Shape;428;p39"/>
              <p:cNvSpPr/>
              <p:nvPr/>
            </p:nvSpPr>
            <p:spPr>
              <a:xfrm>
                <a:off x="3877560" y="2312640"/>
                <a:ext cx="1209960" cy="348840"/>
              </a:xfrm>
              <a:prstGeom prst="rect">
                <a:avLst/>
              </a:prstGeom>
              <a:noFill/>
              <a:ln w="0">
                <a:noFill/>
              </a:ln>
            </p:spPr>
            <p:style>
              <a:lnRef idx="0"/>
              <a:fillRef idx="0"/>
              <a:effectRef idx="0"/>
              <a:fontRef idx="minor"/>
            </p:style>
            <p:txBody>
              <a:bodyPr lIns="90000" rIns="90000" tIns="174600" bIns="174600" anchor="ctr">
                <a:noAutofit/>
              </a:bodyPr>
              <a:p>
                <a:pPr algn="ctr">
                  <a:lnSpc>
                    <a:spcPct val="100000"/>
                  </a:lnSpc>
                  <a:tabLst>
                    <a:tab algn="l" pos="0"/>
                  </a:tabLst>
                </a:pPr>
                <a:r>
                  <a:rPr b="0" lang="en-US" sz="1800" strike="noStrike" u="none">
                    <a:solidFill>
                      <a:srgbClr val="000000"/>
                    </a:solidFill>
                    <a:effectLst/>
                    <a:uFillTx/>
                    <a:latin typeface="Helvetica Neue Light"/>
                    <a:ea typeface="Helvetica Neue Light"/>
                  </a:rPr>
                  <a:t>mysql-0</a:t>
                </a:r>
                <a:endParaRPr b="0" lang="en-US" sz="1800" strike="noStrike" u="none">
                  <a:solidFill>
                    <a:srgbClr val="000000"/>
                  </a:solidFill>
                  <a:effectLst/>
                  <a:uFillTx/>
                  <a:latin typeface="Arial"/>
                </a:endParaRPr>
              </a:p>
            </p:txBody>
          </p:sp>
        </p:grpSp>
        <p:sp>
          <p:nvSpPr>
            <p:cNvPr id="398" name="Google Shape;429;p39"/>
            <p:cNvSpPr/>
            <p:nvPr/>
          </p:nvSpPr>
          <p:spPr>
            <a:xfrm>
              <a:off x="3456360" y="3066480"/>
              <a:ext cx="2017800" cy="3128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156600" bIns="156600" anchor="ctr">
              <a:noAutofit/>
            </a:bodyPr>
            <a:p>
              <a:pPr algn="ctr">
                <a:lnSpc>
                  <a:spcPct val="100000"/>
                </a:lnSpc>
                <a:tabLst>
                  <a:tab algn="l" pos="0"/>
                </a:tabLst>
              </a:pPr>
              <a:r>
                <a:rPr b="1" lang="en-US" sz="1400" strike="noStrike" u="none">
                  <a:solidFill>
                    <a:srgbClr val="000000"/>
                  </a:solidFill>
                  <a:effectLst/>
                  <a:uFillTx/>
                  <a:latin typeface="Arial"/>
                  <a:ea typeface="Arial"/>
                </a:rPr>
                <a:t>mysql</a:t>
              </a:r>
              <a:endParaRPr b="0" lang="en-US" sz="1400" strike="noStrike" u="none">
                <a:solidFill>
                  <a:srgbClr val="ffffff"/>
                </a:solidFill>
                <a:effectLst/>
                <a:uFillTx/>
                <a:latin typeface="Arial"/>
              </a:endParaRPr>
            </a:p>
          </p:txBody>
        </p:sp>
        <p:sp>
          <p:nvSpPr>
            <p:cNvPr id="399" name="Google Shape;430;p39"/>
            <p:cNvSpPr/>
            <p:nvPr/>
          </p:nvSpPr>
          <p:spPr>
            <a:xfrm>
              <a:off x="3456360" y="3456360"/>
              <a:ext cx="2017800" cy="3128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156600" bIns="156600" anchor="ctr">
              <a:noAutofit/>
            </a:bodyPr>
            <a:p>
              <a:pPr algn="ctr">
                <a:lnSpc>
                  <a:spcPct val="100000"/>
                </a:lnSpc>
                <a:tabLst>
                  <a:tab algn="l" pos="0"/>
                </a:tabLst>
              </a:pPr>
              <a:r>
                <a:rPr b="1" lang="en-US" sz="1400" strike="noStrike" u="none">
                  <a:solidFill>
                    <a:srgbClr val="000000"/>
                  </a:solidFill>
                  <a:effectLst/>
                  <a:uFillTx/>
                  <a:latin typeface="Arial"/>
                  <a:ea typeface="Arial"/>
                </a:rPr>
                <a:t>mysql-replicator</a:t>
              </a:r>
              <a:endParaRPr b="0" lang="en-US" sz="1400" strike="noStrike" u="none">
                <a:solidFill>
                  <a:srgbClr val="ffffff"/>
                </a:solidFill>
                <a:effectLst/>
                <a:uFillTx/>
                <a:latin typeface="Arial"/>
              </a:endParaRPr>
            </a:p>
          </p:txBody>
        </p:sp>
      </p:grpSp>
      <p:grpSp>
        <p:nvGrpSpPr>
          <p:cNvPr id="400" name="Google Shape;431;p39"/>
          <p:cNvGrpSpPr/>
          <p:nvPr/>
        </p:nvGrpSpPr>
        <p:grpSpPr>
          <a:xfrm>
            <a:off x="3112200" y="4254480"/>
            <a:ext cx="2771280" cy="1595160"/>
            <a:chOff x="3112200" y="4254480"/>
            <a:chExt cx="2771280" cy="1595160"/>
          </a:xfrm>
        </p:grpSpPr>
        <p:grpSp>
          <p:nvGrpSpPr>
            <p:cNvPr id="401" name="Google Shape;432;p39"/>
            <p:cNvGrpSpPr/>
            <p:nvPr/>
          </p:nvGrpSpPr>
          <p:grpSpPr>
            <a:xfrm>
              <a:off x="3112200" y="4254480"/>
              <a:ext cx="2771280" cy="1595160"/>
              <a:chOff x="3112200" y="4254480"/>
              <a:chExt cx="2771280" cy="1595160"/>
            </a:xfrm>
          </p:grpSpPr>
          <p:grpSp>
            <p:nvGrpSpPr>
              <p:cNvPr id="402" name="Google Shape;433;p39"/>
              <p:cNvGrpSpPr/>
              <p:nvPr/>
            </p:nvGrpSpPr>
            <p:grpSpPr>
              <a:xfrm>
                <a:off x="3112200" y="4254480"/>
                <a:ext cx="2771280" cy="1595160"/>
                <a:chOff x="3112200" y="4254480"/>
                <a:chExt cx="2771280" cy="1595160"/>
              </a:xfrm>
            </p:grpSpPr>
            <p:sp>
              <p:nvSpPr>
                <p:cNvPr id="403" name="Google Shape;386;p39"/>
                <p:cNvSpPr/>
                <p:nvPr/>
              </p:nvSpPr>
              <p:spPr>
                <a:xfrm>
                  <a:off x="3112200" y="4254480"/>
                  <a:ext cx="2771280" cy="159516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04" name="Google Shape;434;p39"/>
                <p:cNvSpPr/>
                <p:nvPr/>
              </p:nvSpPr>
              <p:spPr>
                <a:xfrm>
                  <a:off x="3467160" y="4596840"/>
                  <a:ext cx="2017800" cy="3128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156600" bIns="156600" anchor="ctr">
                  <a:noAutofit/>
                </a:bodyPr>
                <a:p>
                  <a:pPr algn="ctr">
                    <a:lnSpc>
                      <a:spcPct val="100000"/>
                    </a:lnSpc>
                    <a:tabLst>
                      <a:tab algn="l" pos="0"/>
                    </a:tabLst>
                  </a:pPr>
                  <a:r>
                    <a:rPr b="1" lang="en-US" sz="1400" strike="noStrike" u="none">
                      <a:solidFill>
                        <a:srgbClr val="000000"/>
                      </a:solidFill>
                      <a:effectLst/>
                      <a:uFillTx/>
                      <a:latin typeface="Arial"/>
                      <a:ea typeface="Arial"/>
                    </a:rPr>
                    <a:t>init</a:t>
                  </a:r>
                  <a:endParaRPr b="0" lang="en-US" sz="1400" strike="noStrike" u="none">
                    <a:solidFill>
                      <a:srgbClr val="ffffff"/>
                    </a:solidFill>
                    <a:effectLst/>
                    <a:uFillTx/>
                    <a:latin typeface="Arial"/>
                  </a:endParaRPr>
                </a:p>
              </p:txBody>
            </p:sp>
          </p:grpSp>
          <p:sp>
            <p:nvSpPr>
              <p:cNvPr id="405" name="Google Shape;435;p39"/>
              <p:cNvSpPr/>
              <p:nvPr/>
            </p:nvSpPr>
            <p:spPr>
              <a:xfrm>
                <a:off x="3888360" y="4254480"/>
                <a:ext cx="1209960" cy="348840"/>
              </a:xfrm>
              <a:prstGeom prst="rect">
                <a:avLst/>
              </a:prstGeom>
              <a:noFill/>
              <a:ln w="0">
                <a:noFill/>
              </a:ln>
            </p:spPr>
            <p:style>
              <a:lnRef idx="0"/>
              <a:fillRef idx="0"/>
              <a:effectRef idx="0"/>
              <a:fontRef idx="minor"/>
            </p:style>
            <p:txBody>
              <a:bodyPr lIns="90000" rIns="90000" tIns="174600" bIns="174600" anchor="ctr">
                <a:noAutofit/>
              </a:bodyPr>
              <a:p>
                <a:pPr algn="ctr">
                  <a:lnSpc>
                    <a:spcPct val="100000"/>
                  </a:lnSpc>
                  <a:tabLst>
                    <a:tab algn="l" pos="0"/>
                  </a:tabLst>
                </a:pPr>
                <a:r>
                  <a:rPr b="0" lang="en-US" sz="1800" strike="noStrike" u="none">
                    <a:solidFill>
                      <a:srgbClr val="000000"/>
                    </a:solidFill>
                    <a:effectLst/>
                    <a:uFillTx/>
                    <a:latin typeface="Helvetica Neue Light"/>
                    <a:ea typeface="Helvetica Neue Light"/>
                  </a:rPr>
                  <a:t>mysql-1</a:t>
                </a:r>
                <a:endParaRPr b="0" lang="en-US" sz="1800" strike="noStrike" u="none">
                  <a:solidFill>
                    <a:srgbClr val="000000"/>
                  </a:solidFill>
                  <a:effectLst/>
                  <a:uFillTx/>
                  <a:latin typeface="Arial"/>
                </a:endParaRPr>
              </a:p>
            </p:txBody>
          </p:sp>
        </p:grpSp>
        <p:sp>
          <p:nvSpPr>
            <p:cNvPr id="406" name="Google Shape;436;p39"/>
            <p:cNvSpPr/>
            <p:nvPr/>
          </p:nvSpPr>
          <p:spPr>
            <a:xfrm>
              <a:off x="3467160" y="5008680"/>
              <a:ext cx="2017800" cy="3128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156600" bIns="156600" anchor="ctr">
              <a:noAutofit/>
            </a:bodyPr>
            <a:p>
              <a:pPr algn="ctr">
                <a:lnSpc>
                  <a:spcPct val="100000"/>
                </a:lnSpc>
                <a:tabLst>
                  <a:tab algn="l" pos="0"/>
                </a:tabLst>
              </a:pPr>
              <a:r>
                <a:rPr b="1" lang="en-US" sz="1400" strike="noStrike" u="none">
                  <a:solidFill>
                    <a:srgbClr val="000000"/>
                  </a:solidFill>
                  <a:effectLst/>
                  <a:uFillTx/>
                  <a:latin typeface="Arial"/>
                  <a:ea typeface="Arial"/>
                </a:rPr>
                <a:t>mysql</a:t>
              </a:r>
              <a:endParaRPr b="0" lang="en-US" sz="1400" strike="noStrike" u="none">
                <a:solidFill>
                  <a:srgbClr val="ffffff"/>
                </a:solidFill>
                <a:effectLst/>
                <a:uFillTx/>
                <a:latin typeface="Arial"/>
              </a:endParaRPr>
            </a:p>
          </p:txBody>
        </p:sp>
        <p:sp>
          <p:nvSpPr>
            <p:cNvPr id="407" name="Google Shape;437;p39"/>
            <p:cNvSpPr/>
            <p:nvPr/>
          </p:nvSpPr>
          <p:spPr>
            <a:xfrm>
              <a:off x="3467160" y="5398200"/>
              <a:ext cx="2017800" cy="31284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156600" bIns="156600" anchor="ctr">
              <a:noAutofit/>
            </a:bodyPr>
            <a:p>
              <a:pPr algn="ctr">
                <a:lnSpc>
                  <a:spcPct val="100000"/>
                </a:lnSpc>
                <a:tabLst>
                  <a:tab algn="l" pos="0"/>
                </a:tabLst>
              </a:pPr>
              <a:r>
                <a:rPr b="1" lang="en-US" sz="1400" strike="noStrike" u="none">
                  <a:solidFill>
                    <a:srgbClr val="000000"/>
                  </a:solidFill>
                  <a:effectLst/>
                  <a:uFillTx/>
                  <a:latin typeface="Arial"/>
                  <a:ea typeface="Arial"/>
                </a:rPr>
                <a:t>mysql-replicator</a:t>
              </a:r>
              <a:endParaRPr b="0" lang="en-US" sz="1400" strike="noStrike" u="none">
                <a:solidFill>
                  <a:srgbClr val="ffffff"/>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2025-10-28T09:09:34Z</dcterms:modified>
  <cp:revision>5</cp:revision>
  <dc:subject/>
  <dc:title/>
</cp:coreProperties>
</file>

<file path=docProps/custom.xml><?xml version="1.0" encoding="utf-8"?>
<Properties xmlns="http://schemas.openxmlformats.org/officeDocument/2006/custom-properties" xmlns:vt="http://schemas.openxmlformats.org/officeDocument/2006/docPropsVTypes"/>
</file>